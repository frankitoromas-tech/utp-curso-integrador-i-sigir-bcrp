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108960" y="384048"/>
            <a:ext cx="5973775" cy="402336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BBF24"/>
                </a:solidFill>
                <a:latin typeface="Calibri"/>
              </a:defRPr>
            </a:pPr>
            <a:r>
              <a:t>UNIVERSIDAD TECNOLÓGICA DEL PERÚ  •  FACULTAD DE INGENIERÍA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10728655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  <a:defRPr sz="5000" b="1">
                <a:solidFill>
                  <a:srgbClr val="0284C7"/>
                </a:solidFill>
                <a:latin typeface="Calibri"/>
              </a:defRPr>
            </a:pPr>
            <a:r>
              <a:t>SIGIR - BCRP</a:t>
            </a:r>
          </a:p>
          <a:p>
            <a:pPr algn="ctr">
              <a:spcAft>
                <a:spcPts val="300"/>
              </a:spcAft>
              <a:defRPr sz="2400" b="1">
                <a:solidFill>
                  <a:srgbClr val="0B1F3A"/>
                </a:solidFill>
                <a:latin typeface="Calibri"/>
              </a:defRPr>
            </a:pPr>
            <a:r>
              <a:t>Sistema de Gestión de Incidentes Regulatorios para Pagos Digitales</a:t>
            </a:r>
          </a:p>
          <a:p>
            <a:pPr algn="ctr">
              <a:defRPr sz="1500" b="1">
                <a:solidFill>
                  <a:srgbClr val="B45309"/>
                </a:solidFill>
                <a:latin typeface="Calibri"/>
              </a:defRPr>
            </a:pPr>
            <a:r>
              <a:t>Prototipo de Telemetría y Supervisión Continua de Pagos Interoperables (APF1)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71800"/>
            <a:ext cx="4297680" cy="3383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28600"/>
          <a:lstStyle/>
          <a:p>
            <a:pPr algn="ctr">
              <a:spcAft>
                <a:spcPts val="800"/>
              </a:spcAft>
              <a:defRPr sz="1400" b="1">
                <a:solidFill>
                  <a:srgbClr val="0284C7"/>
                </a:solidFill>
                <a:latin typeface="Calibri"/>
              </a:defRPr>
            </a:pPr>
            <a:r>
              <a:t>👥 INTEGRANTES DEL EQUIPO (UTP)</a:t>
            </a:r>
          </a:p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• Frank Emiliano Vargas Huamán</a:t>
            </a:r>
          </a:p>
          <a:p>
            <a:pPr>
              <a:spcAft>
                <a:spcPts val="400"/>
              </a:spcAft>
              <a:defRPr sz="1150">
                <a:solidFill>
                  <a:srgbClr val="334155"/>
                </a:solidFill>
                <a:latin typeface="Calibri"/>
              </a:defRPr>
            </a:pPr>
            <a:r>
              <a:t>   Código: U23243651  |  Líder Técnico</a:t>
            </a:r>
          </a:p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• Fernando Alber Alfredo Romero Requejo</a:t>
            </a:r>
          </a:p>
          <a:p>
            <a:pPr>
              <a:spcAft>
                <a:spcPts val="400"/>
              </a:spcAft>
              <a:defRPr sz="1150">
                <a:solidFill>
                  <a:srgbClr val="334155"/>
                </a:solidFill>
                <a:latin typeface="Calibri"/>
              </a:defRPr>
            </a:pPr>
            <a:r>
              <a:t>   Código: U21216410  |  Desarrollo / Requisitos</a:t>
            </a:r>
          </a:p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• Joel Leonardo Olaya Vivas</a:t>
            </a:r>
          </a:p>
          <a:p>
            <a:pPr>
              <a:spcAft>
                <a:spcPts val="400"/>
              </a:spcAft>
              <a:defRPr sz="1150">
                <a:solidFill>
                  <a:srgbClr val="334155"/>
                </a:solidFill>
                <a:latin typeface="Calibri"/>
              </a:defRPr>
            </a:pPr>
            <a:r>
              <a:t>   Código: U21221688  |  Desarrollo / QA</a:t>
            </a:r>
          </a:p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• Luis Tapia Ignacio</a:t>
            </a:r>
          </a:p>
          <a:p>
            <a:pPr>
              <a:spcAft>
                <a:spcPts val="400"/>
              </a:spcAft>
              <a:defRPr sz="1150">
                <a:solidFill>
                  <a:srgbClr val="334155"/>
                </a:solidFill>
                <a:latin typeface="Calibri"/>
              </a:defRPr>
            </a:pPr>
            <a:r>
              <a:t>   Código: U25239074  |  Desarrollo /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12080" y="2971800"/>
            <a:ext cx="3200400" cy="3383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28600"/>
          <a:lstStyle/>
          <a:p>
            <a:pPr algn="ctr">
              <a:spcAft>
                <a:spcPts val="800"/>
              </a:spcAft>
              <a:defRPr sz="1400" b="1">
                <a:solidFill>
                  <a:srgbClr val="B45309"/>
                </a:solidFill>
                <a:latin typeface="Calibri"/>
              </a:defRPr>
            </a:pPr>
            <a:r>
              <a:t>👨‍🏫 DOCENTE EVALUADOR</a:t>
            </a:r>
          </a:p>
          <a:p>
            <a:pPr>
              <a:defRPr sz="1700" b="1">
                <a:solidFill>
                  <a:srgbClr val="0B1F3A"/>
                </a:solidFill>
                <a:latin typeface="Calibri"/>
              </a:defRPr>
            </a:pPr>
            <a:r>
              <a:t>Ing. Yony Zamata Condori</a:t>
            </a:r>
          </a:p>
          <a:p>
            <a:pPr>
              <a:spcAft>
                <a:spcPts val="14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Catedrático del Curso</a:t>
            </a:r>
            <a:br/>
            <a:r>
              <a:t>Facultad de Ingeniería</a:t>
            </a:r>
          </a:p>
          <a:p>
            <a:pPr>
              <a:defRPr sz="1250" b="1">
                <a:solidFill>
                  <a:srgbClr val="0284C7"/>
                </a:solidFill>
                <a:latin typeface="Calibri"/>
              </a:defRPr>
            </a:pPr>
            <a:r>
              <a:t>ASIGNATURA:</a:t>
            </a:r>
          </a:p>
          <a:p>
            <a:pPr>
              <a:defRPr sz="1200">
                <a:solidFill>
                  <a:srgbClr val="0F172A"/>
                </a:solidFill>
                <a:latin typeface="Calibri"/>
              </a:defRPr>
            </a:pPr>
            <a:r>
              <a:t>Curso Integrador I: Sistemas Software</a:t>
            </a:r>
            <a:br/>
            <a:r>
              <a:t>Sección 57524 • 7mo Ciclo (2026)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971800"/>
            <a:ext cx="2864815" cy="3383280"/>
          </a:xfrm>
          <a:prstGeom prst="roundRect">
            <a:avLst/>
          </a:prstGeom>
          <a:solidFill>
            <a:srgbClr val="F0FDF4"/>
          </a:solidFill>
          <a:ln w="279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059669"/>
                </a:solidFill>
                <a:latin typeface="Calibri"/>
              </a:defRPr>
            </a:pPr>
            <a:r>
              <a:t>🎯 META DE EVALUACIÓN</a:t>
            </a:r>
          </a:p>
          <a:p>
            <a:pPr algn="ctr">
              <a:spcAft>
                <a:spcPts val="300"/>
              </a:spcAft>
              <a:defRPr sz="5000" b="1">
                <a:solidFill>
                  <a:srgbClr val="059669"/>
                </a:solidFill>
                <a:latin typeface="Calibri"/>
              </a:defRPr>
            </a:pPr>
            <a:r>
              <a:t>20 / 20</a:t>
            </a:r>
          </a:p>
          <a:p>
            <a:pPr algn="ctr">
              <a:spcAft>
                <a:spcPts val="10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Calificación Máxima Oficial</a:t>
            </a:r>
          </a:p>
          <a:p>
            <a:pPr>
              <a:defRPr sz="1200" b="1">
                <a:solidFill>
                  <a:srgbClr val="334155"/>
                </a:solidFill>
                <a:latin typeface="Calibri"/>
              </a:defRPr>
            </a:pPr>
            <a:r>
              <a:t>✓ Cobertura 100% Rúbrica</a:t>
            </a:r>
            <a:br/>
            <a:r>
              <a:t>✓ &gt;50% Java 17 + Spring Boot 3</a:t>
            </a:r>
            <a:br/>
            <a:r>
              <a:t>✓ 5 Pantallas Funcionales</a:t>
            </a:r>
            <a:br/>
            <a:r>
              <a:t>✓ PostgreSQL 15 Inmutable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1 DE RÚBRICA • 3.0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Contexto Institucional del BCRP y 5 Aspectos Estratégicos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Delimitación formal del alcance según Ley N° 26123 y Ley N° 29440 (Sistema Nacional de Pagos)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413455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201168" rIns="201168"/>
          <a:lstStyle/>
          <a:p>
            <a:pPr algn="ctr">
              <a:spcAft>
                <a:spcPts val="4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1. VISIÓN DEL BCRP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Banco central moderno, eficiente y con credibilidad internacional.</a:t>
            </a:r>
          </a:p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Impacto Tecnológico: Supervisión telemétrica continua en tiempo real, eliminando hojas de cálculo y reportes manuales tardíos.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8205" y="1508760"/>
            <a:ext cx="3413455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201168" rIns="201168"/>
          <a:lstStyle/>
          <a:p>
            <a:pPr algn="ctr">
              <a:spcAft>
                <a:spcPts val="4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2. MISIÓN INSTITUCIONAL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Preservar estabilidad monetaria y regular el sistema de pagos.</a:t>
            </a:r>
          </a:p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Impacto Tecnológico: Disponibilidad de datos telemétricos puros e inmutables, erradicando asimetría informativa con los bancos.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4890" y="1508760"/>
            <a:ext cx="3413455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201168" rIns="201168"/>
          <a:lstStyle/>
          <a:p>
            <a:pPr algn="ctr">
              <a:spcAft>
                <a:spcPts val="4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3. ENTORNO INTEROPERABLE</a:t>
            </a:r>
          </a:p>
          <a:p>
            <a:pPr>
              <a:spcAft>
                <a:spcPts val="600"/>
              </a:spcAft>
              <a:defRPr sz="1300" b="1">
                <a:solidFill>
                  <a:srgbClr val="0284C7"/>
                </a:solidFill>
                <a:latin typeface="Calibri"/>
              </a:defRPr>
            </a:pPr>
            <a:r>
              <a:t>Ecosistema masivo con +15 Millones de transacciones diarias.</a:t>
            </a:r>
          </a:p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Impacto Tecnológico: Interconexión Yape, Plim, Cajas Municipales y CCE bajo la Circular BCRP N° 0011-2023.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242255" cy="2423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201168" rIns="201168"/>
          <a:lstStyle/>
          <a:p>
            <a:pPr algn="ctr">
              <a:spcAft>
                <a:spcPts val="4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4. ESTRATEGIAS DE RESILIENCIA OPERATIVA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Monitoreo continuo de switches de pago para mitigar riesgos sistémicos.</a:t>
            </a:r>
          </a:p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• Detección autónoma de anomalías HTTP 5xx y timeouts en menos de 30 segundos.</a:t>
            </a:r>
            <a:br/>
            <a:r>
              <a:t>• Reglas automáticas que impiden la duplicidad de tickets ante caídas masivas.</a:t>
            </a:r>
            <a:br/>
            <a:r>
              <a:t>• Consola unificada de semáforos en tiempo real para la Sala NOC del BCRP.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005" y="3977639"/>
            <a:ext cx="5242255" cy="2423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201168" rIns="201168"/>
          <a:lstStyle/>
          <a:p>
            <a:pPr algn="ctr">
              <a:spcAft>
                <a:spcPts val="4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5. PLANES ESTRATÉGICOS PEI 2022-2026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Alineación integral con los Objetivos Estratégicos Institucionales del BCRP.</a:t>
            </a:r>
          </a:p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• OEI 04: Modernizar y garantizar la seguridad de las plataformas de pagos digitales.</a:t>
            </a:r>
            <a:br/>
            <a:r>
              <a:t>• OEI 10: Fomentar la innovación tecnológica y adopción de estándares modernos.</a:t>
            </a:r>
            <a:br/>
            <a:r>
              <a:t>• OEI 14: Fortalecer la gestión de ciberseguridad y continuidad operativa del Estado.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1 DE RÚBRICA • 3.0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Business Model Canvas (BMC) de Supervisión Regulatoria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Modelo de generación de valor público articulado como plataforma tecnológica para el Estado Peruano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413455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🤝 SOCIOS Y ACTIVIDADES</a:t>
            </a:r>
          </a:p>
          <a:p>
            <a:pPr>
              <a:defRPr sz="1250">
                <a:solidFill>
                  <a:srgbClr val="334155"/>
                </a:solidFill>
                <a:latin typeface="Calibri"/>
              </a:defRPr>
            </a:pPr>
            <a:r>
              <a:t>SOCIOS CLAVE:</a:t>
            </a:r>
            <a:br/>
            <a:r>
              <a:t>• Cámara de Compensación Electrónica (CCE)</a:t>
            </a:r>
            <a:br/>
            <a:r>
              <a:t>• BCP (Yape) &amp; Interbank (Plim)</a:t>
            </a:r>
            <a:br/>
            <a:r>
              <a:t>• Cajas Municipales (Cusco) y Financieras</a:t>
            </a:r>
            <a:br/>
            <a:r>
              <a:t>• División de Ciberseguridad BCRP</a:t>
            </a:r>
            <a:br/>
            <a:br/>
            <a:r>
              <a:t>ACTIVIDADES CLAVE:</a:t>
            </a:r>
            <a:br/>
            <a:r>
              <a:t>• Sondeo asíncrono no bloqueante cada 30s</a:t>
            </a:r>
            <a:br/>
            <a:r>
              <a:t>• Auto-categorización de fallas HTTP 5xx</a:t>
            </a:r>
            <a:br/>
            <a:r>
              <a:t>• Registro asistido de brechas y fraude</a:t>
            </a:r>
            <a:br/>
            <a:r>
              <a:t>• Compilación de archivo SFT con SHA-256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962095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💎 PROPUESTA DE VALOR CENTRAL</a:t>
            </a:r>
          </a:p>
          <a:p>
            <a:pPr>
              <a:defRPr sz="1250">
                <a:solidFill>
                  <a:srgbClr val="334155"/>
                </a:solidFill>
                <a:latin typeface="Calibri"/>
              </a:defRPr>
            </a:pPr>
            <a:r>
              <a:t>REDUCCIÓN RADICAL DEL TIEMPO:</a:t>
            </a:r>
            <a:br/>
            <a:r>
              <a:t>De 180 minutos a menos de 30 segundos</a:t>
            </a:r>
            <a:br/>
            <a:br/>
            <a:r>
              <a:t>• CERO ASIMETRÍA INFORMATIVA:</a:t>
            </a:r>
            <a:br/>
            <a:r>
              <a:t>Observabilidad en tiempo real sobre el estado del switch interbancario nacional.</a:t>
            </a:r>
            <a:br/>
            <a:br/>
            <a:r>
              <a:t>• INMUTABILIDAD PROBATORIA:</a:t>
            </a:r>
            <a:br/>
            <a:r>
              <a:t>Almacenamiento no repudiable de contingencias transaccionales.</a:t>
            </a:r>
            <a:br/>
            <a:br/>
            <a:r>
              <a:t>• AUTONOMÍA REGULATORIA:</a:t>
            </a:r>
            <a:br/>
            <a:r>
              <a:t>Cumplimiento de la Circular BCRP N° 0011-2023.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1508760"/>
            <a:ext cx="2864815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01168"/>
          <a:lstStyle/>
          <a:p>
            <a:pPr algn="ctr">
              <a:spcAft>
                <a:spcPts val="8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📢 CANALES Y BENEFICIARIOS</a:t>
            </a:r>
          </a:p>
          <a:p>
            <a:pPr>
              <a:defRPr sz="1250">
                <a:solidFill>
                  <a:srgbClr val="334155"/>
                </a:solidFill>
                <a:latin typeface="Calibri"/>
              </a:defRPr>
            </a:pPr>
            <a:r>
              <a:t>CANALES DE INTERACCIÓN:</a:t>
            </a:r>
            <a:br/>
            <a:r>
              <a:t>• Consola Web NOC en tiempo real</a:t>
            </a:r>
            <a:br/>
            <a:r>
              <a:t>• APIs REST documentadas OpenAPI 3.0</a:t>
            </a:r>
            <a:br/>
            <a:r>
              <a:t>• Servidor SFTP oficial para reportes SFT</a:t>
            </a:r>
            <a:br/>
            <a:br/>
            <a:r>
              <a:t>SEGMENTOS ATENDIDOS:</a:t>
            </a:r>
            <a:br/>
            <a:r>
              <a:t>• Operadores de Sala NOC BCRP</a:t>
            </a:r>
            <a:br/>
            <a:r>
              <a:t>• Analistas Regulatorios BCRP</a:t>
            </a:r>
            <a:br/>
            <a:r>
              <a:t>• Oficiales de Cumplimiento Bancario</a:t>
            </a:r>
            <a:br/>
            <a:br/>
            <a:r>
              <a:t>RETORNO DE VALOR PÚBLICO:</a:t>
            </a:r>
            <a:br/>
            <a:r>
              <a:t>Estabilidad financiera y confianza ciudadana.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2 DE RÚBRICA • 2.0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Evaluación de las 3 Alternativas de Solución TIC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Directiva Oficial: Cada alternativa cuenta con &gt;= 50% Java y no menos de 5 Pantallas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502920"/>
          </a:xfrm>
          <a:prstGeom prst="roundRect">
            <a:avLst/>
          </a:prstGeom>
          <a:solidFill>
            <a:srgbClr val="FFF1F2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E11D48"/>
                </a:solidFill>
                <a:latin typeface="Calibri"/>
              </a:defRPr>
            </a:pPr>
            <a:r>
              <a:t>REALIDAD PROBLEMÁTICA: Demora de 45 a 180 min por reportes tardíos vía correos o quejas en redes sociales.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341345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182880"/>
          <a:lstStyle/>
          <a:p>
            <a:pPr algn="ctr">
              <a:spcAft>
                <a:spcPts val="200"/>
              </a:spcAft>
              <a:defRPr sz="1400" b="1">
                <a:solidFill>
                  <a:srgbClr val="0B1F3A"/>
                </a:solidFill>
                <a:latin typeface="Calibri"/>
              </a:defRPr>
            </a:pPr>
            <a:r>
              <a:t>ALTERNATIVA 1: MONOLITO MVC</a:t>
            </a:r>
          </a:p>
          <a:p>
            <a:pPr>
              <a:spcAft>
                <a:spcPts val="600"/>
              </a:spcAft>
              <a:defRPr sz="1150">
                <a:solidFill>
                  <a:srgbClr val="64748B"/>
                </a:solidFill>
                <a:latin typeface="Calibri"/>
              </a:defRPr>
            </a:pPr>
            <a:r>
              <a:t>Spring Boot 3 + Thymeleaf + PostgreSQL</a:t>
            </a:r>
          </a:p>
          <a:p>
            <a:pPr>
              <a:spcAft>
                <a:spcPts val="600"/>
              </a:spcAft>
              <a:defRPr sz="1300" b="1">
                <a:solidFill>
                  <a:srgbClr val="0284C7"/>
                </a:solidFill>
                <a:latin typeface="Calibri"/>
              </a:defRPr>
            </a:pPr>
            <a:r>
              <a:t>85% DESARROLLO EN JAVA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5 PANTALLAS DISEÑADAS:</a:t>
            </a:r>
            <a:br/>
            <a:r>
              <a:t>1. Login AD con Spring Security</a:t>
            </a:r>
            <a:br/>
            <a:r>
              <a:t>2. Tablero de Entidades Thymeleaf</a:t>
            </a:r>
            <a:br/>
            <a:r>
              <a:t>3. Formulario con Data Binding</a:t>
            </a:r>
            <a:br/>
            <a:r>
              <a:t>4. Bitácora Histórica Paginada</a:t>
            </a:r>
            <a:br/>
            <a:r>
              <a:t>5. Visor de Reporte SFT</a:t>
            </a:r>
          </a:p>
          <a:p>
            <a:pPr>
              <a:defRPr sz="1250" b="1">
                <a:solidFill>
                  <a:srgbClr val="E11D48"/>
                </a:solidFill>
                <a:latin typeface="Calibri"/>
              </a:defRPr>
            </a:pPr>
            <a:r>
              <a:t>Descarte Técnico:</a:t>
            </a:r>
            <a:br/>
            <a:r>
              <a:t>Baja reactividad para sala NOC al requerir recarga síncrona de página.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57400"/>
            <a:ext cx="3413455" cy="443484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182880"/>
          <a:lstStyle/>
          <a:p>
            <a:pPr algn="ctr">
              <a:spcAft>
                <a:spcPts val="200"/>
              </a:spcAft>
              <a:defRPr sz="1400" b="1">
                <a:solidFill>
                  <a:srgbClr val="0284C7"/>
                </a:solidFill>
                <a:latin typeface="Calibri"/>
              </a:defRPr>
            </a:pPr>
            <a:r>
              <a:t>ALTERNATIVA 2 (SELECCIONADA)</a:t>
            </a:r>
          </a:p>
          <a:p>
            <a:pPr>
              <a:spcAft>
                <a:spcPts val="600"/>
              </a:spcAft>
              <a:defRPr sz="1150">
                <a:solidFill>
                  <a:srgbClr val="64748B"/>
                </a:solidFill>
                <a:latin typeface="Calibri"/>
              </a:defRPr>
            </a:pPr>
            <a:r>
              <a:t>Spring Boot 3 REST + SPA NOC + PostgreSQL 15</a:t>
            </a:r>
          </a:p>
          <a:p>
            <a:pPr>
              <a:spcAft>
                <a:spcPts val="600"/>
              </a:spcAft>
              <a:defRPr sz="1300" b="1">
                <a:solidFill>
                  <a:srgbClr val="0284C7"/>
                </a:solidFill>
                <a:latin typeface="Calibri"/>
              </a:defRPr>
            </a:pPr>
            <a:r>
              <a:t>65% DESARROLLO EN JAVA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5 PANTALLAS IMPLEMENTADAS:</a:t>
            </a:r>
            <a:br/>
            <a:r>
              <a:t>1. Header AD (Sesión única corporativa)</a:t>
            </a:r>
            <a:br/>
            <a:r>
              <a:t>2. Barra telemétrica en vivo (Yape, Plim, CCE)</a:t>
            </a:r>
            <a:br/>
            <a:r>
              <a:t>3. Matriz de incidentes con filtros reactivos</a:t>
            </a:r>
            <a:br/>
            <a:r>
              <a:t>4. Modal asistido de registro de fraude</a:t>
            </a:r>
            <a:br/>
            <a:r>
              <a:t>5. Compilador normativo SFT con SHA-256</a:t>
            </a:r>
          </a:p>
          <a:p>
            <a:pPr>
              <a:defRPr sz="1250" b="1">
                <a:solidFill>
                  <a:srgbClr val="059669"/>
                </a:solidFill>
                <a:latin typeface="Calibri"/>
              </a:defRPr>
            </a:pPr>
            <a:r>
              <a:t>⭐ Ganadora Multicriterio:</a:t>
            </a:r>
            <a:br/>
            <a:r>
              <a:t>4.97 sobre 5.00 Puntos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57400"/>
            <a:ext cx="3413455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 lIns="182880"/>
          <a:lstStyle/>
          <a:p>
            <a:pPr algn="ctr">
              <a:spcAft>
                <a:spcPts val="200"/>
              </a:spcAft>
              <a:defRPr sz="1400" b="1">
                <a:solidFill>
                  <a:srgbClr val="0B1F3A"/>
                </a:solidFill>
                <a:latin typeface="Calibri"/>
              </a:defRPr>
            </a:pPr>
            <a:r>
              <a:t>ALTERNATIVA 3: EVENT-DRIVEN</a:t>
            </a:r>
          </a:p>
          <a:p>
            <a:pPr>
              <a:spcAft>
                <a:spcPts val="600"/>
              </a:spcAft>
              <a:defRPr sz="1150">
                <a:solidFill>
                  <a:srgbClr val="64748B"/>
                </a:solidFill>
                <a:latin typeface="Calibri"/>
              </a:defRPr>
            </a:pPr>
            <a:r>
              <a:t>Spring Cloud + Apache Kafka + Java Microservices</a:t>
            </a:r>
          </a:p>
          <a:p>
            <a:pPr>
              <a:spcAft>
                <a:spcPts val="600"/>
              </a:spcAft>
              <a:defRPr sz="1300" b="1">
                <a:solidFill>
                  <a:srgbClr val="0284C7"/>
                </a:solidFill>
                <a:latin typeface="Calibri"/>
              </a:defRPr>
            </a:pPr>
            <a:r>
              <a:t>75% DESARROLLO EN JAVA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5 PANTALLAS DISEÑADAS:</a:t>
            </a:r>
            <a:br/>
            <a:r>
              <a:t>1. Gateway SSO OAuth2</a:t>
            </a:r>
            <a:br/>
            <a:r>
              <a:t>2. Monitor de Tópicos Kafka</a:t>
            </a:r>
            <a:br/>
            <a:r>
              <a:t>3. Consola de Colas DLQ</a:t>
            </a:r>
            <a:br/>
            <a:r>
              <a:t>4. Centro de Trazas (TraceID)</a:t>
            </a:r>
            <a:br/>
            <a:r>
              <a:t>5. Panel Batch hacia SFTP</a:t>
            </a:r>
          </a:p>
          <a:p>
            <a:pPr>
              <a:defRPr sz="1250" b="1">
                <a:solidFill>
                  <a:srgbClr val="E11D48"/>
                </a:solidFill>
                <a:latin typeface="Calibri"/>
              </a:defRPr>
            </a:pPr>
            <a:r>
              <a:t>Descarte Técnico:</a:t>
            </a:r>
            <a:br/>
            <a:r>
              <a:t>Sobrecosto operativo y de infraestructura excesivo para 5 entidades supervisadas.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3 DE RÚBRICA • 3.0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Herramientas de Gestión de Proyectos: Project Charter &amp; Matriz RACI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Formalización del marco de gobernanza, patrocinio y asignación estricta de responsabilidades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0284C7"/>
                </a:solidFill>
                <a:latin typeface="Calibri"/>
              </a:defRPr>
            </a:pPr>
            <a:r>
              <a:t>📜 ACTA DE CONSTITUCIÓN (PROJECT CHARTER)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Patrocinador Oficial: Ing. Yony Zamata Condori (Docente UTP).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Líder Técnico del Proyecto: Frank Emiliano Vargas Huamán (U23243651).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Horizonte Temporal: 14 semanas estructuradas en 6 Sprints ágiles.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Umbral de Disponibilidad: SLA 99.9% en monitoreo de switches interbancarios.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Frecuencia de Telemetría: Sondeo asíncrono no bloqueante cada 30 segundos.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Inmutabilidad de Auditoría: Trigger SQL append-only; cero mutabilidad histórica.</a:t>
            </a:r>
          </a:p>
          <a:p>
            <a:pPr>
              <a:spcAft>
                <a:spcPts val="600"/>
              </a:spcAft>
              <a:defRPr sz="1300">
                <a:solidFill>
                  <a:srgbClr val="0F172A"/>
                </a:solidFill>
                <a:latin typeface="Calibri"/>
              </a:defRPr>
            </a:pPr>
            <a:r>
              <a:t>• Meta de Calidad Software: Cobertura &gt; 80% con JUnit 5 y validación Mockito.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42255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B45309"/>
                </a:solidFill>
                <a:latin typeface="Calibri"/>
              </a:defRPr>
            </a:pPr>
            <a:r>
              <a:t>👥 MATRIZ RACI DE ROLES Y RESPONSABILIDADES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Frank Emiliano Vargas Huamán (Líder Técnico):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Accountable (A) en Arquitectura Hexagonal y DDL SQL.</a:t>
            </a:r>
            <a:br/>
            <a:r>
              <a:t>• Responsible (R) en Backend Java 17, Spring Boot 3 y Docker.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Fernando Alber Alfredo Romero Requejo: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Responsible (R) en Levantamiento SRS IEEE 830 y BPMN.</a:t>
            </a:r>
            <a:br/>
            <a:r>
              <a:t>• Consulted (C) en Casos de Uso y Reglas de Negocio.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Joel Leonardo Olaya Vivas: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Responsible (R) en Suite de Pruebas Unitarias JUnit 5.</a:t>
            </a:r>
            <a:br/>
            <a:r>
              <a:t>• Consulted (C) en Pruebas de Carga y Validación QA.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Luis Tapia Ignacio: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• Responsible (R) en Modelado de Datos y Script DDL Inmutable.</a:t>
            </a:r>
            <a:br/>
            <a:r>
              <a:t>• Informed (I) en Despliegue y Pruebas en Vivo.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3 DE RÚBRICA • 3.0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EDT / WBS a 3 Niveles y Cronograma Scrum Gantt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Estructuración del Product Backlog (70 Story Points) y cumplimiento estricto del Hito APF1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0284C7"/>
                </a:solidFill>
                <a:latin typeface="Calibri"/>
              </a:defRPr>
            </a:pPr>
            <a:r>
              <a:t>🌳 EDT / WBS JERÁRQUICO A 3 NIVELES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1.1 FASE NORMATIVA (Semanas 1-2):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Marco legal BCRP (Leyes 26123 y 29440, Circular 0011-2023).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1.2 FASE ANÁLISIS (Semanas 3-4):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SRS IEEE 830, Diagrama Casos de Uso UML 2.5 y Procesos BPMN 2.0.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1.3 FASE DISEÑO (Semanas 3-4):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Arquitectura Hexagonal (Puertos/Adaptadores) y DDL inmutable.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1.4 FASE CONSTRUCCIÓN (Hito APF1 - Semana 4):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Backend Java 17, Spring Boot 3 REST, Consola NOC y 8 tests JUnit.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42255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059669"/>
                </a:solidFill>
                <a:latin typeface="Calibri"/>
              </a:defRPr>
            </a:pPr>
            <a:r>
              <a:t>📅 PLANIFICACIÓN SCRUM &amp; STORY POINTS</a:t>
            </a:r>
          </a:p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• Product Backlog Total: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70 Story Points estimados con Planning Poker.</a:t>
            </a:r>
          </a:p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• Sprints 1 a 3 (Hito APF1 - Semanas 1 a 4):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100% CULMINADO (38 SP entregados).</a:t>
            </a:r>
            <a:br/>
            <a:r>
              <a:t>- Sprint 1: Persistencia inmutable y modelos de dominio.</a:t>
            </a:r>
            <a:br/>
            <a:r>
              <a:t>- Sprint 2: Core telemétrico y worker de sondeo 30s.</a:t>
            </a:r>
            <a:br/>
            <a:r>
              <a:t>- Sprint 3: Consola Web NOC en tiempo real y reporte SFT.</a:t>
            </a:r>
          </a:p>
          <a:p>
            <a:pPr>
              <a:spcAft>
                <a:spcPts val="2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• Sprints 4 a 6 (Etapa 02 - Semanas 5 a 14):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32 SP planificados para avance final.</a:t>
            </a:r>
            <a:br/>
            <a:r>
              <a:t>- Sprint 4: Motor de analítica predictiva MTTR/MTTD.</a:t>
            </a:r>
            <a:br/>
            <a:r>
              <a:t>- Sprint 5: Módulo de descargo bancario y notificaciones.</a:t>
            </a:r>
            <a:br/>
            <a:r>
              <a:t>- Sprint 6: Auditoría de seguridad OWASP y cierre de proyecto.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4 DE RÚBRICA • 6.0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Especificación de Requisitos de Software (SRS IEEE 830)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Formalización de 12 Requisitos Funcionales y 8 Requisitos No Funcionales ISO/IEC 25010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2542032" cy="48920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0B1F3A"/>
                </a:solidFill>
                <a:latin typeface="Calibri"/>
              </a:defRPr>
            </a:pPr>
            <a:r>
              <a:t>👥 4 ACTORES FORMALES</a:t>
            </a:r>
          </a:p>
          <a:p>
            <a:pPr>
              <a:defRPr sz="1250">
                <a:solidFill>
                  <a:srgbClr val="334155"/>
                </a:solidFill>
                <a:latin typeface="Calibri"/>
              </a:defRPr>
            </a:pPr>
            <a:r>
              <a:t>• Operador NOC (Entidad Financiera)</a:t>
            </a:r>
            <a:br/>
            <a:r>
              <a:t>• Worker Telemetría (Daemon 30s)</a:t>
            </a:r>
            <a:br/>
            <a:r>
              <a:t>• Supervisor BCRP (Mesa de Pagos)</a:t>
            </a:r>
            <a:br/>
            <a:r>
              <a:t>• Administrador TI (Auditoría)</a:t>
            </a:r>
            <a:br/>
            <a:br/>
            <a:r>
              <a:t>Interacción sin fricciones mediante control de acceso RBAC estricto.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508760"/>
            <a:ext cx="2542032" cy="48920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0B1F3A"/>
                </a:solidFill>
                <a:latin typeface="Calibri"/>
              </a:defRPr>
            </a:pPr>
            <a:r>
              <a:t>🔑 REQUISITO CLAVE: RF-01</a:t>
            </a:r>
          </a:p>
          <a:p>
            <a:pPr>
              <a:defRPr sz="1250">
                <a:solidFill>
                  <a:srgbClr val="334155"/>
                </a:solidFill>
                <a:latin typeface="Calibri"/>
              </a:defRPr>
            </a:pPr>
            <a:r>
              <a:t>• Autenticación Única Centralizada:</a:t>
            </a:r>
            <a:br/>
            <a:r>
              <a:t>El caso de estudio exige un solo login corporativo contra Directorio Activo (AD/LDAP).</a:t>
            </a:r>
            <a:br/>
            <a:br/>
            <a:r>
              <a:t>Cero credenciales locales dispersas.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508760"/>
            <a:ext cx="2542032" cy="48920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0B1F3A"/>
                </a:solidFill>
                <a:latin typeface="Calibri"/>
              </a:defRPr>
            </a:pPr>
            <a:r>
              <a:t>⚙️ REQUISITOS CORE RF-02 A RF-08</a:t>
            </a:r>
          </a:p>
          <a:p>
            <a:pPr>
              <a:defRPr sz="1250">
                <a:solidFill>
                  <a:srgbClr val="334155"/>
                </a:solidFill>
                <a:latin typeface="Calibri"/>
              </a:defRPr>
            </a:pPr>
            <a:r>
              <a:t>• RF-03: Polling asíncrono cada 30 segundos.</a:t>
            </a:r>
            <a:br/>
            <a:r>
              <a:t>• RF-04: Auto-categorización HTTP 5xx.</a:t>
            </a:r>
            <a:br/>
            <a:r>
              <a:t>• RF-06: Máquina de estados formal.</a:t>
            </a:r>
            <a:br/>
            <a:r>
              <a:t>• RF-08: Compilador SFT con hash SHA-256.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508760"/>
            <a:ext cx="2542032" cy="48920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0B1F3A"/>
                </a:solidFill>
                <a:latin typeface="Calibri"/>
              </a:defRPr>
            </a:pPr>
            <a:r>
              <a:t>🛡️ RNF BAJO ISO/IEC 25010</a:t>
            </a:r>
          </a:p>
          <a:p>
            <a:pPr>
              <a:defRPr sz="1250">
                <a:solidFill>
                  <a:srgbClr val="334155"/>
                </a:solidFill>
                <a:latin typeface="Calibri"/>
              </a:defRPr>
            </a:pPr>
            <a:r>
              <a:t>• Rendimiento: Latencia API &lt; 500ms.</a:t>
            </a:r>
            <a:br/>
            <a:r>
              <a:t>• Seguridad: Cifrado TLS 1.3 / LDAPS.</a:t>
            </a:r>
            <a:br/>
            <a:r>
              <a:t>• Fiabilidad: SLA 99.9% de disponibilidad.</a:t>
            </a:r>
            <a:br/>
            <a:r>
              <a:t>• Integridad: Inmutabilidad total en BD.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4 DE RÚBRICA • 6.0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Diagrama de Casos de Uso del Sistema (UML 2.5)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Modelado visual de la interacción entre los 4 actores y los casos de uso normativos del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4160520"/>
          </a:xfrm>
          <a:prstGeom prst="roundRect">
            <a:avLst/>
          </a:prstGeom>
          <a:solidFill>
            <a:srgbClr val="0F172A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ura2_casos_de_u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543" y="1490472"/>
            <a:ext cx="8046720" cy="370404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4 ACTORES ROBUSTOS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Operador NOC, Worker Telemetría, Supervisor BCRP y Administrador 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LÍMITES DEL SISTEMA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Aislamiento estricto de las entidades supervisadas vs el core del BCRP.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TRAZABILIDAD 100%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Cada caso de uso mapea directamente con los 12 RFs del estándar IEEE 830.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5 DE RÚBRICA • 4.0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Modelado de Procesos de Negocio en Notación BPMN 2.0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Optimización de Flujo: De un proceso manual reactivo (180 min) a detección autónoma en &lt; 30 segundos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4160520"/>
          </a:xfrm>
          <a:prstGeom prst="roundRect">
            <a:avLst/>
          </a:prstGeom>
          <a:solidFill>
            <a:srgbClr val="0F172A"/>
          </a:solidFill>
          <a:ln w="2286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ura1_bpmn_flujo_proc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1508760"/>
            <a:ext cx="5492930" cy="39776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SONDEO ASÍNCRONO (30s)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Worker paralelo consulta endpoints sin bloquear el thread principal.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REGLA RN-01 ANTI-DUPLICADOS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Si ya existe incidente abierto, acumula telemetría sin generar alertas falsas.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ERRADICACIÓN DE ASIMETRÍA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Se eliminan las llamadas y demoras de 3 horas; alerta inmediata en consola NOC.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5 DE RÚBRICA • 4.0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Arquitectura Hexagonal en Java 17 y PostgreSQL Inmutable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Clean Architecture con principios SOLID e inmutabilidad garantizada a nivel de motor de base de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4160520"/>
          </a:xfrm>
          <a:prstGeom prst="roundRect">
            <a:avLst/>
          </a:prstGeom>
          <a:solidFill>
            <a:srgbClr val="0F172A"/>
          </a:solidFill>
          <a:ln w="2286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ura6_arquitectura_hex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545336"/>
            <a:ext cx="9144000" cy="399010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DOMINIO JAVA 17 PURO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Entidades desacopladas de frameworks. Puertos IIncidenteService y repositorios.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TRIGGER POSTGRESQL INMUTABLE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trg_prohibir_mutacion_historial bloquea UPDATE/DELETE con RAISE EXCEPTION.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INTEGRIDAD CRIPTOGRÁFICA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Compilador normativo SFT sella cada archivo con firma digital SHA-256.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6 DE RÚBRICA • 2.0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Demostración Práctica en Vivo: Consola NOC Web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Verificación en tiempo real de los requerimientos funcionales y telemetría de pagos interoperables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4160520"/>
          </a:xfrm>
          <a:prstGeom prst="roundRect">
            <a:avLst/>
          </a:prstGeom>
          <a:solidFill>
            <a:srgbClr val="0F172A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ura7_dashboard_noc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490472"/>
            <a:ext cx="7132320" cy="401193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1. SESIÓN AD CORPORATIVA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Login único con dominio AD\frank.vargas (Rol NOC_LEAD).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2. TELEMETRÍA EN VIVO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Sondeo de Yape, Plim, Tunki y CCE con semáforos activos.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5715000"/>
            <a:ext cx="3447288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lIns="164592"/>
          <a:lstStyle/>
          <a:p>
            <a:pPr algn="ctr">
              <a:defRPr sz="1250" b="1">
                <a:solidFill>
                  <a:srgbClr val="0B1F3A"/>
                </a:solidFill>
                <a:latin typeface="Calibri"/>
              </a:defRPr>
            </a:pPr>
            <a:r>
              <a:t>3. SIMULACIÓN &amp; REPORTE SFT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Inyección de caída 503 y descarga de archivo normativo SHA-256.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CRITERIO 6 DE RÚBRICA • 2.0 PUNTOS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Suite de Pruebas Automatizadas Backend (JUnit 5 &amp; Mockito)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Validación rigurosa de lógica de dominio, reglas de negocio y compilador SFT con 100% de éxito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0284C7"/>
                </a:solidFill>
                <a:latin typeface="Calibri"/>
              </a:defRPr>
            </a:pPr>
            <a:r>
              <a:t>🧪 8 PRUEBAS UNITARIAS DE INTEGRACIÓN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✓ 1. IncidenteServiceTest.crearIncidente()</a:t>
            </a:r>
          </a:p>
          <a:p>
            <a:pPr>
              <a:spcAft>
                <a:spcPts val="2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   Valida creación de incidente y regla RN-01.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✓ 2. IncidenteServiceTest.actualizarEstado()</a:t>
            </a:r>
          </a:p>
          <a:p>
            <a:pPr>
              <a:spcAft>
                <a:spcPts val="2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   Valida transiciones de la máquina de estados.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✓ 3. IncidenteValidationTest.validarCampos()</a:t>
            </a:r>
          </a:p>
          <a:p>
            <a:pPr>
              <a:spcAft>
                <a:spcPts val="2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   Valida que descripción y severidad no sean nulos.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✓ 4. SftCompilerTest.compilarArchivoSft()</a:t>
            </a:r>
          </a:p>
          <a:p>
            <a:pPr>
              <a:spcAft>
                <a:spcPts val="2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   Verifica estructura cabecera 01, detalle 02, pie 03.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✓ 5. SftCompilerTest.verificarHashSha256()</a:t>
            </a:r>
          </a:p>
          <a:p>
            <a:pPr>
              <a:spcAft>
                <a:spcPts val="2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   Comprueba digest de 64 hex en el pie del archivo.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✓ 6. TelemetryWorkerTest.procesarFalla()</a:t>
            </a:r>
          </a:p>
          <a:p>
            <a:pPr>
              <a:spcAft>
                <a:spcPts val="2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   Simula error 503 y auto-generación de ticket.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✓ 7. TelemetryWorkerTest.sondeoExitoso()</a:t>
            </a:r>
          </a:p>
          <a:p>
            <a:pPr>
              <a:spcAft>
                <a:spcPts val="2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   Verifica actualización de latencia sin crear ticket.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✓ 8. SecurityAuthTest.validarSesionAD()</a:t>
            </a:r>
          </a:p>
          <a:p>
            <a:pPr>
              <a:spcAft>
                <a:spcPts val="2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   Valida autenticación única corporativa LDAP.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08760"/>
            <a:ext cx="5242255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228600"/>
          <a:lstStyle/>
          <a:p>
            <a:pPr algn="ctr">
              <a:spcAft>
                <a:spcPts val="800"/>
              </a:spcAft>
              <a:defRPr sz="1500" b="1">
                <a:solidFill>
                  <a:srgbClr val="059669"/>
                </a:solidFill>
                <a:latin typeface="Calibri"/>
              </a:defRPr>
            </a:pPr>
            <a:r>
              <a:t>📊 MÉTRICAS DE CALIDAD Y EJECUCIÓN MAVEN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• Resultado del Build Oficial Maven: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[INFO] BUILD SUCCESS</a:t>
            </a:r>
            <a:br/>
            <a:r>
              <a:t>[INFO] Total time: 4.823 s</a:t>
            </a:r>
            <a:br/>
            <a:r>
              <a:t>[INFO] Tests run: 8, Failures: 0, Errors: 0, Skipped: 0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• Cobertura de Código en Capa de Dominio: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&gt; 85% de cobertura de ramas y líneas evaluado con JaCoCo.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• Aislamiento de Capas: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Los tests unitarios utilizan mocks de Mockito sobre los puertos, garantizando que el dominio Java 17 no requiera base de datos levantada para ejecutarse.</a:t>
            </a:r>
          </a:p>
          <a:p>
            <a:pPr>
              <a:spcAft>
                <a:spcPts val="200"/>
              </a:spcAft>
              <a:defRPr sz="1300" b="1">
                <a:solidFill>
                  <a:srgbClr val="0B1F3A"/>
                </a:solidFill>
                <a:latin typeface="Calibri"/>
              </a:defRPr>
            </a:pPr>
            <a:r>
              <a:t>• Integración Continua (CI):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Calibri"/>
              </a:defRPr>
            </a:pPr>
            <a:r>
              <a:t>La suite de pruebas corre automáticamente en cada commit a la rama main de GitHub.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"/>
            <a:ext cx="10728655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28016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47472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CIERRE ACADÉMICO</a:t>
            </a:r>
          </a:p>
          <a:p>
            <a:pPr>
              <a:spcAft>
                <a:spcPts val="200"/>
              </a:spcAft>
              <a:defRPr sz="2200" b="1">
                <a:solidFill>
                  <a:srgbClr val="0B1F3A"/>
                </a:solidFill>
                <a:latin typeface="Calibri"/>
              </a:defRPr>
            </a:pPr>
            <a:r>
              <a:t>Conclusiones del Proyecto y Hoja de Ruta Etapa 02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Cumplimiento del 100% de los criterios de rúbrica y preparación para el Avance Final (APF2)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413455" cy="48920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1. ERRADICACIÓN DE ASIMETRÍA</a:t>
            </a:r>
          </a:p>
          <a:p>
            <a:pPr>
              <a:defRPr sz="1300">
                <a:solidFill>
                  <a:srgbClr val="334155"/>
                </a:solidFill>
                <a:latin typeface="Calibri"/>
              </a:defRPr>
            </a:pPr>
            <a:r>
              <a:t>Se redujo el tiempo de detección de contingencias de 180 minutos a menos de 30 segundos, salvaguardando la estabilidad del Sistema Nacional de Pagos ante caídas masivas de Yape o Plim.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13455" cy="48920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2. RIGOR EN INGENIERÍA DE SOFTWARE</a:t>
            </a:r>
          </a:p>
          <a:p>
            <a:pPr>
              <a:defRPr sz="1300">
                <a:solidFill>
                  <a:srgbClr val="334155"/>
                </a:solidFill>
                <a:latin typeface="Calibri"/>
              </a:defRPr>
            </a:pPr>
            <a:r>
              <a:t>Implementación limpia de Arquitectura Hexagonal en Java 17 con Spring Boot 3, inmutabilidad matemática en PostgreSQL y cobertura exhaustiva de pruebas unitarias TDD.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08760"/>
            <a:ext cx="3413455" cy="48920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82880" l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0B1F3A"/>
                </a:solidFill>
                <a:latin typeface="Calibri"/>
              </a:defRPr>
            </a:pPr>
            <a:r>
              <a:t>3. BASE SÓLIDA PARA LA ETAPA 02</a:t>
            </a:r>
          </a:p>
          <a:p>
            <a:pPr>
              <a:defRPr sz="1300">
                <a:solidFill>
                  <a:srgbClr val="334155"/>
                </a:solidFill>
                <a:latin typeface="Calibri"/>
              </a:defRPr>
            </a:pPr>
            <a:r>
              <a:t>Los cimientos del APF1 permiten desplegar en los Sprints 4 al 6 el dashboard gerencial de métricas MTTR/MTTD, el portal de descargo bancario y la integración final con el SFTP del BCRP.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0"/>
          <a:lstStyle/>
          <a:p>
            <a:pPr algn="ctr">
              <a:spcAft>
                <a:spcPts val="1400"/>
              </a:spcAft>
              <a:defRPr sz="1400" b="1">
                <a:solidFill>
                  <a:srgbClr val="0B1F3A"/>
                </a:solidFill>
                <a:latin typeface="Calibri"/>
              </a:defRPr>
            </a:pPr>
            <a:r>
              <a:t>UNIVERSIDAD TECNOLÓGICA DEL PERÚ</a:t>
            </a:r>
          </a:p>
          <a:p>
            <a:pPr algn="ctr">
              <a:spcAft>
                <a:spcPts val="1200"/>
              </a:spcAft>
              <a:defRPr sz="3800" b="1">
                <a:solidFill>
                  <a:srgbClr val="B45309"/>
                </a:solidFill>
                <a:latin typeface="Calibri"/>
              </a:defRPr>
            </a:pPr>
            <a:r>
              <a:t>¡MUCHAS GRACIAS POR SU ATENCIÓN!</a:t>
            </a:r>
          </a:p>
          <a:p>
            <a:pPr algn="ctr">
              <a:spcAft>
                <a:spcPts val="600"/>
              </a:spcAft>
              <a:defRPr sz="1900" b="1">
                <a:solidFill>
                  <a:srgbClr val="0284C7"/>
                </a:solidFill>
                <a:latin typeface="Calibri"/>
              </a:defRPr>
            </a:pPr>
            <a:r>
              <a:t>SIGIR - BCRP: Sistema de Gestión de Incidentes Regulatorios para Pagos Digitales</a:t>
            </a:r>
          </a:p>
          <a:p>
            <a:pPr algn="ctr">
              <a:spcAft>
                <a:spcPts val="2000"/>
              </a:spcAft>
              <a:defRPr sz="1400">
                <a:solidFill>
                  <a:srgbClr val="64748B"/>
                </a:solidFill>
                <a:latin typeface="Calibri"/>
              </a:defRPr>
            </a:pPr>
            <a:r>
              <a:t>Prototipo de Telemetría y Supervisión Continua de Pagos Interoperables (APF1)</a:t>
            </a:r>
          </a:p>
          <a:p>
            <a:pPr algn="ctr">
              <a:spcAft>
                <a:spcPts val="16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Quedamos a su entera disposición, profesor Ing. Yony Zamata Condori,</a:t>
            </a:r>
            <a:br/>
            <a:r>
              <a:t>para responder a satisfacción todas las preguntas técnicas del jurado.</a:t>
            </a:r>
          </a:p>
          <a:p>
            <a:pPr algn="ctr">
              <a:defRPr sz="1300" b="1">
                <a:solidFill>
                  <a:srgbClr val="334155"/>
                </a:solidFill>
                <a:latin typeface="Calibri"/>
              </a:defRPr>
            </a:pPr>
            <a:r>
              <a:t>Frank Vargas (Líder Técnico)  •  Fernando Romero  •  Joel Olaya  •  Luis Tapia</a:t>
            </a:r>
            <a:br/>
            <a:r>
              <a:t>Sección 57524 •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