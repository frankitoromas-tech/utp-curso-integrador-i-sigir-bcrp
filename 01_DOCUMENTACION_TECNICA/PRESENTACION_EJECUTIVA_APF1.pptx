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0" y="548640"/>
            <a:ext cx="4510735" cy="3657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BBF24"/>
                </a:solidFill>
                <a:latin typeface="Arial"/>
              </a:defRPr>
            </a:pPr>
            <a:r>
              <a:t>UNIVERSIDAD TECNOLÓGICA DEL PERÚ  •  FACULTAD DE INGENIERÍA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4FF"/>
                </a:solidFill>
                <a:latin typeface="Arial"/>
              </a:defRPr>
            </a:pPr>
            <a:r>
              <a:t>SIGIR - BCRP</a:t>
            </a:r>
          </a:p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Sistema de Gestión de Incidentes Regulatorios para Pagos Digitales</a:t>
            </a:r>
          </a:p>
          <a:p>
            <a:pPr algn="ctr">
              <a:defRPr sz="1300">
                <a:solidFill>
                  <a:srgbClr val="94A3B8"/>
                </a:solidFill>
                <a:latin typeface="Arial"/>
              </a:defRPr>
            </a:pPr>
            <a:r>
              <a:t>Prototipo de Telemetría y Supervisión Continua de Pagos Interoperables (APF1)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26080"/>
            <a:ext cx="3931920" cy="310896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INTEGRANTES DEL EQUIPO (UTP)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• Frank Emiliano Vargas Huamán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 Código: U23243651 (Líder Técnico)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• Fernando Alber Alfredo Romero Requejo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 Código: U21216410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• Joel Leonardo Olaya Vivas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 Código: U21221688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• Luis Tapia Ignacio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 Código: U25239074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926080"/>
            <a:ext cx="3108960" cy="310896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BF24"/>
                </a:solidFill>
                <a:latin typeface="Arial"/>
              </a:defRPr>
            </a:pPr>
            <a:r>
              <a:t>DOCENTE EVALUADOR</a:t>
            </a:r>
          </a:p>
          <a:p>
            <a:br/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Ing. Yony Zamata Condori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Catedrático del Curso</a:t>
            </a:r>
            <a:br/>
            <a:r>
              <a:t>Facultad de Ingeniería</a:t>
            </a:r>
          </a:p>
          <a:p>
            <a:br/>
            <a:pPr>
              <a:defRPr sz="1000" b="1">
                <a:solidFill>
                  <a:srgbClr val="00D4FF"/>
                </a:solidFill>
                <a:latin typeface="Arial"/>
              </a:defRPr>
            </a:pPr>
            <a:r>
              <a:t>ASIGNATURA:</a:t>
            </a:r>
          </a:p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Curso Integrador I:</a:t>
            </a:r>
            <a:br/>
            <a:r>
              <a:t>Sistemas Software (Secc. 57524)</a:t>
            </a:r>
            <a:br/>
            <a:r>
              <a:t>7mo Ciclo •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2926080"/>
            <a:ext cx="2926080" cy="3108960"/>
          </a:xfrm>
          <a:prstGeom prst="roundRect">
            <a:avLst/>
          </a:prstGeom>
          <a:solidFill>
            <a:srgbClr val="0A23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OBJETIVO DE EVALUACIÓN</a:t>
            </a:r>
          </a:p>
          <a:p>
            <a:br/>
            <a:pPr>
              <a:defRPr sz="4000" b="1">
                <a:solidFill>
                  <a:srgbClr val="10B981"/>
                </a:solidFill>
                <a:latin typeface="Arial"/>
              </a:defRPr>
            </a:pPr>
            <a:r>
              <a:t>20 / 20</a:t>
            </a:r>
          </a:p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Calificación Máxima Esperada</a:t>
            </a:r>
          </a:p>
          <a:p>
            <a:br/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✓ Cobertura 100% Criterios 1 al 6</a:t>
            </a:r>
            <a:br/>
            <a:r>
              <a:t>✓ &gt;50% Java 17 + Spring Boot 3</a:t>
            </a:r>
            <a:br/>
            <a:r>
              <a:t>✓ 5 Pantallas Funcionales</a:t>
            </a:r>
            <a:br/>
            <a:r>
              <a:t>✓ PostgreSQL Inmutable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D4FF"/>
                </a:solidFill>
                <a:latin typeface="Arial"/>
              </a:defRPr>
            </a:pPr>
            <a:r>
              <a:t>CRITERIO 1 DE RÚBRICA • 3.0 PUNTOS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Contexto Institucional del BCRP y 5 Aspectos Estratégicos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Delimitación del alcance según Ley N° 26123 y Ley N° 29440 (Sistema Nacional de Pagos)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066543" cy="438912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1. VISIÓN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Banco central moderno y con credibilidad internacional.</a:t>
            </a:r>
          </a:p>
          <a:p>
            <a:br/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Requisito TIC:</a:t>
            </a:r>
            <a:br/>
            <a:r>
              <a:t>Supervisión digital con telemetría en tiempo real, erradicando hojas de cálculo y llamadas manuales.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35223" y="1645920"/>
            <a:ext cx="2066543" cy="438912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2. MISIÓN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Preservar estabilidad monetaria y regular pagos.</a:t>
            </a:r>
          </a:p>
          <a:p>
            <a:br/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Requisito TIC:</a:t>
            </a:r>
            <a:br/>
            <a:r>
              <a:t>Datos telemétricos puros, transparentes e inmutables sin asimetría informativa.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38926" y="1645920"/>
            <a:ext cx="2066543" cy="4389120"/>
          </a:xfrm>
          <a:prstGeom prst="roundRect">
            <a:avLst/>
          </a:prstGeom>
          <a:solidFill>
            <a:srgbClr val="142341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D4FF"/>
                </a:solidFill>
                <a:latin typeface="Arial"/>
              </a:defRPr>
            </a:pPr>
            <a:r>
              <a:t>3. ENTORNO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+15 Millones de transacciones diarias.</a:t>
            </a:r>
          </a:p>
          <a:p>
            <a:br/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Requisito TIC:</a:t>
            </a:r>
            <a:br/>
            <a:r>
              <a:t>Interoperabilidad masiva entre Yape, Plim, Cajas y CCE. Circular BCRP N° 0011-2023.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42629" y="1645920"/>
            <a:ext cx="2066543" cy="438912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4. ESTRATEGIAS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Resiliencia operativa del sistema de pagos.</a:t>
            </a:r>
          </a:p>
          <a:p>
            <a:br/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Requisito TIC:</a:t>
            </a:r>
            <a:br/>
            <a:r>
              <a:t>Detección y tipificación autónoma de contingencias en menos de 30 segundos.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46332" y="1645920"/>
            <a:ext cx="2066543" cy="4389120"/>
          </a:xfrm>
          <a:prstGeom prst="roundRect">
            <a:avLst/>
          </a:prstGeom>
          <a:solidFill>
            <a:srgbClr val="142341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  <a:latin typeface="Arial"/>
              </a:defRPr>
            </a:pPr>
            <a:r>
              <a:t>5. PLANES PEI</a:t>
            </a:r>
          </a:p>
          <a:p>
            <a:br/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Plan Estratégico PEI 2022-2026.</a:t>
            </a:r>
          </a:p>
          <a:p>
            <a:br/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Requisito TIC:</a:t>
            </a:r>
            <a:br/>
            <a:r>
              <a:t>Cumplimiento de objetivos OEI 04 (pagos), OEI 10 (innovación), OEI 12 y OEI 14 (riesgos TIC).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D4FF"/>
                </a:solidFill>
                <a:latin typeface="Arial"/>
              </a:defRPr>
            </a:pPr>
            <a:r>
              <a:t>CRITERIO 1 DE RÚBRICA • 3.0 PUNTOS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Business Model Canvas (BMC) de Supervisión Regulatoria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Modelo de generación de valor público articulado como plataforma tecnológica para el Estado Peruano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057400" cy="292608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D4FF"/>
                </a:solidFill>
                <a:latin typeface="Arial"/>
              </a:defRPr>
            </a:pPr>
            <a:r>
              <a:t>SOCIOS CLAVE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Cámara Compensación (CCE)</a:t>
            </a:r>
            <a:br/>
            <a:r>
              <a:t>• BCP (Yape) &amp; Interbank (Plim)</a:t>
            </a:r>
            <a:br/>
            <a:r>
              <a:t>• Cajas Municipales y Rurales</a:t>
            </a:r>
            <a:br/>
            <a:r>
              <a:t>• Ciberseguridad BCRP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645920"/>
            <a:ext cx="2057400" cy="292608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D4FF"/>
                </a:solidFill>
                <a:latin typeface="Arial"/>
              </a:defRPr>
            </a:pPr>
            <a:r>
              <a:t>ACTIVIDADES CLAVE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Polling asíncrono cada 30s</a:t>
            </a:r>
            <a:br/>
            <a:r>
              <a:t>• Auto-categorización fallas 5xx</a:t>
            </a:r>
            <a:br/>
            <a:r>
              <a:t>• Registro forense asistido</a:t>
            </a:r>
            <a:br/>
            <a:r>
              <a:t>• Compilación SFT SHA-256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645920"/>
            <a:ext cx="2133295" cy="4389120"/>
          </a:xfrm>
          <a:prstGeom prst="roundRect">
            <a:avLst/>
          </a:prstGeom>
          <a:solidFill>
            <a:srgbClr val="142341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BBF24"/>
                </a:solidFill>
                <a:latin typeface="Arial"/>
              </a:defRPr>
            </a:pPr>
            <a:r>
              <a:t>PROPUESTA DE VALOR</a:t>
            </a:r>
            <a:br/>
            <a:r>
              <a:t>(IMPACTO CENTRAL)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REDUCCIÓN DRÁSTICA:</a:t>
            </a:r>
            <a:br/>
            <a:r>
              <a:t>De 180 min a &lt;30 seg en detección de indisponibilidad.</a:t>
            </a:r>
            <a:br/>
            <a:br/>
            <a:r>
              <a:t>• Cero asimetría informativa</a:t>
            </a:r>
            <a:br/>
            <a:r>
              <a:t>• Inmutabilidad probatoria</a:t>
            </a:r>
            <a:br/>
            <a:r>
              <a:t>• Automatización integral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1645920"/>
            <a:ext cx="2057400" cy="292608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D4FF"/>
                </a:solidFill>
                <a:latin typeface="Arial"/>
              </a:defRPr>
            </a:pPr>
            <a:r>
              <a:t>CANALES DE ACCESO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Consola Web NOC en vivo</a:t>
            </a:r>
            <a:br/>
            <a:r>
              <a:t>• APIs REST seguras (OpenAPI)</a:t>
            </a:r>
            <a:br/>
            <a:r>
              <a:t>• SFTP regulatorio cifrado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645920"/>
            <a:ext cx="2057400" cy="292608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D4FF"/>
                </a:solidFill>
                <a:latin typeface="Arial"/>
              </a:defRPr>
            </a:pPr>
            <a:r>
              <a:t>SEGMENTO USUARIOS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Operadores de Sala NOC</a:t>
            </a:r>
            <a:br/>
            <a:r>
              <a:t>• Analistas de Cumplimiento BCRP</a:t>
            </a:r>
            <a:br/>
            <a:r>
              <a:t>• Oficiales de Riesgo Bancario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4206240" cy="137160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D4FF"/>
                </a:solidFill>
                <a:latin typeface="Arial"/>
              </a:defRPr>
            </a:pPr>
            <a:r>
              <a:t>RECURSOS CLAVE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Backend Java 17 Spring Boot (Hexagonal) • PostgreSQL 15 Inmutable • SPA NOC Web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663440"/>
            <a:ext cx="4206240" cy="1371600"/>
          </a:xfrm>
          <a:prstGeom prst="roundRect">
            <a:avLst/>
          </a:prstGeom>
          <a:solidFill>
            <a:srgbClr val="1423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10B981"/>
                </a:solidFill>
                <a:latin typeface="Arial"/>
              </a:defRPr>
            </a:pPr>
            <a:r>
              <a:t>RETORNO DE VALOR PÚBLICO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Preservación de la confianza en el dinero digital • Mitigación de riesgos sistémicos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D4FF"/>
                </a:solidFill>
                <a:latin typeface="Arial"/>
              </a:defRPr>
            </a:pPr>
            <a:r>
              <a:t>CRITERIO 2 DE RÚBRICA • 2.0 PUNTOS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Evaluación de las 3 Alternativas de Solución 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Cumplimiento estricto de la directiva: Cada alternativa cuenta con &gt;= 50% Java y 5 Pantallas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502920"/>
          </a:xfrm>
          <a:prstGeom prst="roundRect">
            <a:avLst/>
          </a:prstGeom>
          <a:solidFill>
            <a:srgbClr val="281419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ECDD3"/>
                </a:solidFill>
                <a:latin typeface="Arial"/>
              </a:defRPr>
            </a:pPr>
            <a:r>
              <a:t>REALIDAD PROBLEMÁTICA: Detección manual tardía (45 a 180 min), dispersión de canales y asimetría de información en el switch de pagos.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3413455" cy="411480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ALTERNATIVA 1: MONOLITO MVC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Spring Boot 3 + Thymeleaf + PostgreSQL</a:t>
            </a:r>
            <a:br/>
          </a:p>
          <a:p>
            <a:pPr>
              <a:defRPr sz="1000" b="1">
                <a:solidFill>
                  <a:srgbClr val="00D4FF"/>
                </a:solidFill>
                <a:latin typeface="Arial"/>
              </a:defRPr>
            </a:pPr>
            <a:r>
              <a:t>85% DESARROLLO JAVA</a:t>
            </a:r>
          </a:p>
          <a:p>
            <a:br/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5 Pantallas Diseñadas:</a:t>
            </a:r>
            <a:br/>
            <a:r>
              <a:t>1. Login AD con Spring Security</a:t>
            </a:r>
            <a:br/>
            <a:r>
              <a:t>2. Tablero de Entidades Thymeleaf</a:t>
            </a:r>
            <a:br/>
            <a:r>
              <a:t>3. Formulario con Data Binding</a:t>
            </a:r>
            <a:br/>
            <a:r>
              <a:t>4. Bitácora de Auditoría</a:t>
            </a:r>
            <a:br/>
            <a:r>
              <a:t>5. Visor de Reporte SFT</a:t>
            </a:r>
            <a:br/>
          </a:p>
          <a:p>
            <a:pPr>
              <a:defRPr sz="1000" b="1">
                <a:solidFill>
                  <a:srgbClr val="F43F5E"/>
                </a:solidFill>
                <a:latin typeface="Arial"/>
              </a:defRPr>
            </a:pPr>
            <a:r>
              <a:t>Descarte: Baja reactividad en sala NOC por recargas HTTP completas.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94560"/>
            <a:ext cx="3413455" cy="4114800"/>
          </a:xfrm>
          <a:prstGeom prst="roundRect">
            <a:avLst/>
          </a:prstGeom>
          <a:solidFill>
            <a:srgbClr val="142341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BF24"/>
                </a:solidFill>
                <a:latin typeface="Arial"/>
              </a:defRPr>
            </a:pPr>
            <a:r>
              <a:t>ALTERNATIVA 2 (SELECCIONADA)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Spring Boot 3 REST API + SPA NOC + PostgreSQL 15</a:t>
            </a:r>
            <a:br/>
          </a:p>
          <a:p>
            <a:pPr>
              <a:defRPr sz="1000" b="1">
                <a:solidFill>
                  <a:srgbClr val="00D4FF"/>
                </a:solidFill>
                <a:latin typeface="Arial"/>
              </a:defRPr>
            </a:pPr>
            <a:r>
              <a:t>65% DESARROLLO JAVA</a:t>
            </a:r>
          </a:p>
          <a:p>
            <a:br/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5 Pantallas Implementadas:</a:t>
            </a:r>
            <a:br/>
            <a:r>
              <a:t>1. Header corporativo AD (Sesión única)</a:t>
            </a:r>
            <a:br/>
            <a:r>
              <a:t>2. Barra telemétrica en vivo (Yape, Plim, CCE)</a:t>
            </a:r>
            <a:br/>
            <a:r>
              <a:t>3. Matriz reactiva de incidentes con filtros</a:t>
            </a:r>
            <a:br/>
            <a:r>
              <a:t>4. Modal asistido de registro de fraude</a:t>
            </a:r>
            <a:br/>
            <a:r>
              <a:t>5. Compilador normativo SFT con SHA-256</a:t>
            </a:r>
            <a:br/>
          </a:p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⭐ Ganadora Multicriterio: 4.97 / 5.00 Puntos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413455" cy="411480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ALTERNATIVA 3: EVENT-DRIVEN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Spring Cloud + Apache Kafka + Java Microservices</a:t>
            </a:r>
            <a:br/>
          </a:p>
          <a:p>
            <a:pPr>
              <a:defRPr sz="1000" b="1">
                <a:solidFill>
                  <a:srgbClr val="00D4FF"/>
                </a:solidFill>
                <a:latin typeface="Arial"/>
              </a:defRPr>
            </a:pPr>
            <a:r>
              <a:t>75% DESARROLLO JAVA</a:t>
            </a:r>
          </a:p>
          <a:p>
            <a:br/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5 Pantallas Diseñadas:</a:t>
            </a:r>
            <a:br/>
            <a:r>
              <a:t>1. Gateway SSO OAuth2</a:t>
            </a:r>
            <a:br/>
            <a:r>
              <a:t>2. Monitor de Tópicos Kafka</a:t>
            </a:r>
            <a:br/>
            <a:r>
              <a:t>3. Consola de Colas DLQ</a:t>
            </a:r>
            <a:br/>
            <a:r>
              <a:t>4. Centro Forense de Trazas (TraceID)</a:t>
            </a:r>
            <a:br/>
            <a:r>
              <a:t>5. Panel Batch hacia SFTP</a:t>
            </a:r>
            <a:br/>
          </a:p>
          <a:p>
            <a:pPr>
              <a:defRPr sz="1000" b="1">
                <a:solidFill>
                  <a:srgbClr val="F43F5E"/>
                </a:solidFill>
                <a:latin typeface="Arial"/>
              </a:defRPr>
            </a:pPr>
            <a:r>
              <a:t>Descarte: Sobrecosto operativo excesivo para 5 entidades supervisadas.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D4FF"/>
                </a:solidFill>
                <a:latin typeface="Arial"/>
              </a:defRPr>
            </a:pPr>
            <a:r>
              <a:t>CRITERIO 3 DE RÚBRICA • 3.0 PUNTOS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Herramientas de Gestión de Proyectos: PMBOK &amp; Scrum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Uso simultáneo de Acta de Constitución (Project Charter), EDT/WBS a 3 niveles y Cronograma Gantt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4572000"/>
          </a:xfrm>
          <a:prstGeom prst="roundRect">
            <a:avLst/>
          </a:prstGeom>
          <a:solidFill>
            <a:srgbClr val="0F192D"/>
          </a:solidFill>
          <a:ln w="12700">
            <a:solidFill>
              <a:srgbClr val="23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1. PROJECT CHARTER BÁSICO</a:t>
            </a:r>
          </a:p>
          <a:p>
            <a:br/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Acta formal del proyecto:</a:t>
            </a:r>
            <a:br/>
            <a:br/>
            <a:r>
              <a:t>• Patrocinador: Ing. Yony Zamata</a:t>
            </a:r>
            <a:br/>
            <a:r>
              <a:t>• Equipo: Frank Vargas (Líder), Fernando Romero, Joel Olaya, Luis Tapia</a:t>
            </a:r>
            <a:br/>
            <a:r>
              <a:t>• Duración: 14 semanas (6 Sprints)</a:t>
            </a:r>
            <a:br/>
            <a:r>
              <a:t>• Sondeo telemétrico: Intervalos de 30s</a:t>
            </a:r>
            <a:br/>
            <a:r>
              <a:t>• Disponibilidad requerida: 99.9%</a:t>
            </a:r>
            <a:br/>
            <a:r>
              <a:t>• Cero mutación en historial (Trigger SQL)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13455" cy="4572000"/>
          </a:xfrm>
          <a:prstGeom prst="roundRect">
            <a:avLst/>
          </a:prstGeom>
          <a:solidFill>
            <a:srgbClr val="142341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D4FF"/>
                </a:solidFill>
                <a:latin typeface="Arial"/>
              </a:defRPr>
            </a:pPr>
            <a:r>
              <a:t>2. EDT / WBS A 3 NIVELES</a:t>
            </a:r>
          </a:p>
          <a:p>
            <a:br/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Descomposición jerárquica de entregables:</a:t>
            </a:r>
            <a:br/>
            <a:br/>
            <a:r>
              <a:t>• 1.1 FASE NORMATIVA: Marco legal BCRP</a:t>
            </a:r>
            <a:br/>
            <a:r>
              <a:t>• 1.2 FASE ANÁLISIS: Requisitos IEEE 830 y BPMN</a:t>
            </a:r>
            <a:br/>
            <a:r>
              <a:t>• 1.3 FASE DISEÑO: Arquitectura Hexagonal y DDL</a:t>
            </a:r>
            <a:br/>
            <a:r>
              <a:t>• 1.4 FASE CONSTRUCCIÓN: Hito APF1 con 8 tests JUnit 5 y contenedor Docker Compose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13455" cy="4572000"/>
          </a:xfrm>
          <a:prstGeom prst="roundRect">
            <a:avLst/>
          </a:prstGeom>
          <a:solidFill>
            <a:srgbClr val="142341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  <a:latin typeface="Arial"/>
              </a:defRPr>
            </a:pPr>
            <a:r>
              <a:t>3. CRONOGRAMA GANTT &amp; RACI</a:t>
            </a:r>
          </a:p>
          <a:p>
            <a:br/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Planificación ágil del esfuerzo:</a:t>
            </a:r>
            <a:br/>
            <a:br/>
            <a:r>
              <a:t>• Product Backlog: 70 Story Points</a:t>
            </a:r>
            <a:br/>
            <a:r>
              <a:t>• Sprints 1 a 3: Cimientos core, persistencia inmutable y consola NOC (Semana 4 - APF1)</a:t>
            </a:r>
            <a:br/>
            <a:r>
              <a:t>• Sprints 4 a 6: Analítica gerencial MTTR/MTTD y reportes avanzados (Etapa 02)</a:t>
            </a:r>
            <a:br/>
            <a:r>
              <a:t>• Matriz RACI: Claridad de responsabilidades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D4FF"/>
                </a:solidFill>
                <a:latin typeface="Arial"/>
              </a:defRPr>
            </a:pPr>
            <a:r>
              <a:t>CRITERIO 4 DE RÚBRICA • 6.0 PUNTOS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Análisis de la Solución bajo Estándar SRS IEEE 830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Diagrama de Casos de Uso UML 2.5, 12 Requisitos Funcionales y 8 No Funcionales ISO/IEC 25010</a:t>
            </a:r>
          </a:p>
        </p:txBody>
      </p:sp>
      <p:pic>
        <p:nvPicPr>
          <p:cNvPr id="6" name="Picture 5" descr="figura2_casos_de_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27930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1645920"/>
            <a:ext cx="4937760" cy="4572000"/>
          </a:xfrm>
          <a:prstGeom prst="roundRect">
            <a:avLst/>
          </a:prstGeom>
          <a:solidFill>
            <a:srgbClr val="0F192D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D4FF"/>
                </a:solidFill>
                <a:latin typeface="Arial"/>
              </a:defRPr>
            </a:pPr>
            <a:r>
              <a:t>ESPECIFICACIÓN FORMAL DE REQUISITOS</a:t>
            </a:r>
          </a:p>
          <a:p>
            <a:br/>
            <a:pPr>
              <a:defRPr sz="950" b="1">
                <a:solidFill>
                  <a:srgbClr val="FBBF24"/>
                </a:solidFill>
                <a:latin typeface="Arial"/>
              </a:defRPr>
            </a:pPr>
            <a:r>
              <a:t>4 ACTORES DEL SISTEMA: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Operador NOC • Administrador TI • Supervisor BCRP • Worker de Telemetría.</a:t>
            </a:r>
          </a:p>
          <a:p>
            <a:br/>
            <a:pPr>
              <a:defRPr sz="950" b="1">
                <a:solidFill>
                  <a:srgbClr val="FBBF24"/>
                </a:solidFill>
                <a:latin typeface="Arial"/>
              </a:defRPr>
            </a:pPr>
            <a:r>
              <a:t>RF-01 (REQUERIMIENTO CLAVE DEL CASO):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Un solo login centralizado contra Directorio Activo (AD/LDAP).</a:t>
            </a:r>
          </a:p>
          <a:p>
            <a:br/>
            <a:pPr>
              <a:defRPr sz="950" b="1">
                <a:solidFill>
                  <a:srgbClr val="FBBF24"/>
                </a:solidFill>
                <a:latin typeface="Arial"/>
              </a:defRPr>
            </a:pPr>
            <a:r>
              <a:t>RF-03 Y RF-04 (DETECCIÓN AUTOMÁTICA):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Sondeo cada 30 segundos y auto-categorización de fallas HTTP 5xx / timeouts.</a:t>
            </a:r>
          </a:p>
          <a:p>
            <a:br/>
            <a:pPr>
              <a:defRPr sz="950" b="1">
                <a:solidFill>
                  <a:srgbClr val="FBBF24"/>
                </a:solidFill>
                <a:latin typeface="Arial"/>
              </a:defRPr>
            </a:pPr>
            <a:r>
              <a:t>RF-06 Y RF-08 (ESTADOS Y REGULACIÓN):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Máquina de estados estricta y compilación de archivo SFT BCRP con hash SHA-256.</a:t>
            </a:r>
          </a:p>
          <a:p>
            <a:br/>
            <a:pPr>
              <a:defRPr sz="950" b="1">
                <a:solidFill>
                  <a:srgbClr val="FBBF24"/>
                </a:solidFill>
                <a:latin typeface="Arial"/>
              </a:defRPr>
            </a:pPr>
            <a:r>
              <a:t>RNF ISO/IEC 25010: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Latencia REST &lt; 500ms • Cifrado TLS 1.3 / LDAPS • Inmutabilidad probatoria en BD.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D4FF"/>
                </a:solidFill>
                <a:latin typeface="Arial"/>
              </a:defRPr>
            </a:pPr>
            <a:r>
              <a:t>CRITERIO 5 DE RÚBRICA • 4.0 PUNTOS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Diseño de Procesos de Negocio en Notación BPMN 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Optimización de Flujo: De un proceso manual reactivo a detección autónoma en submilisegundos</a:t>
            </a:r>
          </a:p>
        </p:txBody>
      </p:sp>
      <p:pic>
        <p:nvPicPr>
          <p:cNvPr id="6" name="Picture 5" descr="figura1_bpmn_flujo_proc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43039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49440" y="1645920"/>
            <a:ext cx="4480560" cy="4572000"/>
          </a:xfrm>
          <a:prstGeom prst="roundRect">
            <a:avLst/>
          </a:prstGeom>
          <a:solidFill>
            <a:srgbClr val="0F192D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COMPARATIVA DE PROCESOS BPMN 2.0</a:t>
            </a:r>
          </a:p>
          <a:p>
            <a:br/>
            <a:pPr>
              <a:defRPr sz="1050" b="1">
                <a:solidFill>
                  <a:srgbClr val="00D4FF"/>
                </a:solidFill>
                <a:latin typeface="Arial"/>
              </a:defRPr>
            </a:pPr>
            <a:r>
              <a:t>PROCESO TO-BE (PROPUESTO):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1. Sondeo Asíncrono Paralelo (30s) sin bloquear hilos.</a:t>
            </a:r>
            <a:br/>
            <a:r>
              <a:t>2. Regla RN-01 Anti-Duplicados: Si ya hay ticket abierto, omite creación.</a:t>
            </a:r>
            <a:br/>
            <a:r>
              <a:t>3. Si es nueva caída: Registro atómico con correlativo oficial.</a:t>
            </a:r>
            <a:br/>
            <a:r>
              <a:t>4. Actualización instantánea de semáforo rojo y notificación.</a:t>
            </a:r>
          </a:p>
          <a:p>
            <a:br/>
            <a:pPr>
              <a:defRPr sz="1050" b="1">
                <a:solidFill>
                  <a:srgbClr val="F43F5E"/>
                </a:solidFill>
                <a:latin typeface="Arial"/>
              </a:defRPr>
            </a:pPr>
            <a:r>
              <a:t>PROCESO AS-IS (ACTUAL):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Demoras de 45 a 180 minutos para que el BCRP se entere.</a:t>
            </a:r>
            <a:br/>
            <a:r>
              <a:t>• Reportes heterogéneos y dispersión en correos o llamadas.</a:t>
            </a:r>
            <a:br/>
            <a:r>
              <a:t>• Asimetría de información y riesgo sistémico financiero.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D4FF"/>
                </a:solidFill>
                <a:latin typeface="Arial"/>
              </a:defRPr>
            </a:pPr>
            <a:r>
              <a:t>CRITERIO 5 DE RÚBRICA • 4.0 PUNTOS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Arquitectura Hexagonal en Java 17 y PostgreSQL Inmutable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Clean Architecture con principios SOLID e inmutabilidad garantizada a nivel de motor SQL</a:t>
            </a:r>
          </a:p>
        </p:txBody>
      </p:sp>
      <p:pic>
        <p:nvPicPr>
          <p:cNvPr id="6" name="Picture 5" descr="figura6_arquitectura_hex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24738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645920"/>
            <a:ext cx="4754880" cy="4572000"/>
          </a:xfrm>
          <a:prstGeom prst="roundRect">
            <a:avLst/>
          </a:prstGeom>
          <a:solidFill>
            <a:srgbClr val="0F192D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D4FF"/>
                </a:solidFill>
                <a:latin typeface="Arial"/>
              </a:defRPr>
            </a:pPr>
            <a:r>
              <a:t>PILARES DE INGENIERÍA DE SOFTWARE</a:t>
            </a:r>
          </a:p>
          <a:p>
            <a:br/>
            <a:pPr>
              <a:defRPr sz="950" b="1">
                <a:solidFill>
                  <a:srgbClr val="FBBF24"/>
                </a:solidFill>
                <a:latin typeface="Arial"/>
              </a:defRPr>
            </a:pPr>
            <a:r>
              <a:t>ARQUITECTURA HEXAGONAL (PORTS &amp; ADAPTERS):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Dominio Java 17 puro (Incidente, Entidad) aislado de frameworks. Puerto IIncidenteService desacoplando adaptadores Web REST, Worker y JPA.</a:t>
            </a:r>
          </a:p>
          <a:p>
            <a:br/>
            <a:pPr>
              <a:defRPr sz="950" b="1">
                <a:solidFill>
                  <a:srgbClr val="FBBF24"/>
                </a:solidFill>
                <a:latin typeface="Arial"/>
              </a:defRPr>
            </a:pPr>
            <a:r>
              <a:t>POSTGRESQL 15 INMUTABLE (APPEND-ONLY):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Trigger trg_prohibir_mutacion_historial que lanza RAISE EXCEPTION ante cualquier UPDATE o DELETE. La auditoría histórica es matemáticamente inalterable.</a:t>
            </a:r>
          </a:p>
          <a:p>
            <a:br/>
            <a:pPr>
              <a:defRPr sz="950" b="1">
                <a:solidFill>
                  <a:srgbClr val="FBBF24"/>
                </a:solidFill>
                <a:latin typeface="Arial"/>
              </a:defRPr>
            </a:pPr>
            <a:r>
              <a:t>ÍNDICE PARCIAL ANTI-CARRERAS: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CREATE UNIQUE INDEX idx_incidente_abierto_unico ON incidentes(entidad_id) WHERE estado IN ('ABIERTO', 'EN_INVESTIGACION'); Evita colisiones concurrentes.</a:t>
            </a:r>
          </a:p>
          <a:p>
            <a:br/>
            <a:pPr>
              <a:defRPr sz="950" b="1">
                <a:solidFill>
                  <a:srgbClr val="FBBF24"/>
                </a:solidFill>
                <a:latin typeface="Arial"/>
              </a:defRPr>
            </a:pPr>
            <a:r>
              <a:t>INTEGRIDAD CRIPTOGRÁFICA SHA-256: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Generación de digest de 64 caracteres en el bloque 03 del archivo SFT para garantizar no repudio regulatorio.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D4FF"/>
                </a:solidFill>
                <a:latin typeface="Arial"/>
              </a:defRPr>
            </a:pPr>
            <a:r>
              <a:t>CRITERIO 6 DE RÚBRICA • 2.0 PUNTOS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Demostración Práctica en Vivo (Live Demo Consola NOC)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Comprobación en tiempo real de los requerimientos funcionales del caso de estudio BCRP</a:t>
            </a:r>
          </a:p>
        </p:txBody>
      </p:sp>
      <p:pic>
        <p:nvPicPr>
          <p:cNvPr id="6" name="Picture 5" descr="figura7_dashboard_noc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645920"/>
            <a:ext cx="4572000" cy="4572000"/>
          </a:xfrm>
          <a:prstGeom prst="roundRect">
            <a:avLst/>
          </a:prstGeom>
          <a:solidFill>
            <a:srgbClr val="0F192D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SECUENCIA DE LA DEMOSTRACIÓN (5 PASOS)</a:t>
            </a:r>
          </a:p>
          <a:p>
            <a:br/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1. SESIÓN AD CORPORATIVA: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Validar login único AD\frank.vargas@bcrp.local (Rol NOC_LEAD).</a:t>
            </a:r>
          </a:p>
          <a:p>
            <a:br/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2. SEMÁFOROS Y LATENCIA EN VIVO: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Yape (142ms), Plim (189ms), Tunki (210ms), CCE (95ms).</a:t>
            </a:r>
          </a:p>
          <a:p>
            <a:br/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3. SIMULAR CAÍDA 503: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Clic en botón -&gt; Semáforo ROJO en vivo -&gt; Auto-generación de ticket INC-00004.</a:t>
            </a:r>
          </a:p>
          <a:p>
            <a:br/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4. REGISTRO MANUAL DE FRAUDE: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Creación asistida de brecha de seguridad con bitácora inmutable.</a:t>
            </a:r>
          </a:p>
          <a:p>
            <a:br/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5. COMPILAR REPORTE SFT BCRP: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Generación de archivo plano delimitado por pipes con hash SHA-256.</a:t>
            </a:r>
          </a:p>
          <a:p>
            <a:br/>
            <a:pPr>
              <a:defRPr sz="950" b="1">
                <a:solidFill>
                  <a:srgbClr val="00D4FF"/>
                </a:solidFill>
                <a:latin typeface="Arial"/>
              </a:defRPr>
            </a:pPr>
            <a:r>
              <a:t>SUITE BACKEND APROBADA: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8 pruebas unitarias con JUnit 5 y Mockito aprobadas con Maven.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D4FF"/>
                </a:solidFill>
                <a:latin typeface="Arial"/>
              </a:defRPr>
            </a:pPr>
            <a:r>
              <a:t>CRITERIO 6 DE RÚBRICA • 2.0 PUNTOS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Conclusiones y Defensa Técnica ante el Jurado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Solución de ingeniería rigurosa, verificable y 100% alineada a la rúbrica oficial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3108960"/>
          </a:xfrm>
          <a:prstGeom prst="roundRect">
            <a:avLst/>
          </a:prstGeom>
          <a:solidFill>
            <a:srgbClr val="0F19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1. ERRADICACIÓN DE ASIMETRÍA</a:t>
            </a:r>
          </a:p>
          <a:p>
            <a:br/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Se redujo el tiempo de detección de caídas de 180 minutos a menos de 30 segundos, blindando la estabilidad financiera del país.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13455" cy="3108960"/>
          </a:xfrm>
          <a:prstGeom prst="roundRect">
            <a:avLst/>
          </a:prstGeom>
          <a:solidFill>
            <a:srgbClr val="0F192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BF24"/>
                </a:solidFill>
                <a:latin typeface="Arial"/>
              </a:defRPr>
            </a:pPr>
            <a:r>
              <a:t>2. RIGOR EN INGENIERÍA DE SOFTWARE</a:t>
            </a:r>
          </a:p>
          <a:p>
            <a:br/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Aplicación de Clean Architecture (Hexagonal), principios SOLID, inmutabilidad matemática con triggers PostgreSQL y pruebas automatizadas TDD.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13455" cy="3108960"/>
          </a:xfrm>
          <a:prstGeom prst="roundRect">
            <a:avLst/>
          </a:prstGeom>
          <a:solidFill>
            <a:srgbClr val="0F19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3. BASE SÓLIDA PARA LA ETAPA 02</a:t>
            </a:r>
          </a:p>
          <a:p>
            <a:br/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Los cimientos del APF1 dejan la arquitectura preparada para el dashboard gerencial de KPIs (MTTR/MTTD) y reportes en los Sprints 4 al 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728655" cy="1188720"/>
          </a:xfrm>
          <a:prstGeom prst="roundRect">
            <a:avLst/>
          </a:prstGeom>
          <a:solidFill>
            <a:srgbClr val="142341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BBF24"/>
                </a:solidFill>
                <a:latin typeface="Arial"/>
              </a:defRPr>
            </a:pPr>
            <a:r>
              <a:t>¡MUCHAS GRACIAS POR SU ATENCIÓN!</a:t>
            </a:r>
          </a:p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Quedamos a su entera disposición, profesor Ing. Yony Zamata Condori, para responder con el mayor gusto sus consultas técnicas.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