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0" r:id="rId21"/>
    <p:sldId id="260" r:id="rId11"/>
    <p:sldId id="261" r:id="rId12"/>
    <p:sldId id="271" r:id="rId22"/>
    <p:sldId id="262" r:id="rId13"/>
    <p:sldId id="263" r:id="rId14"/>
    <p:sldId id="264" r:id="rId15"/>
    <p:sldId id="265" r:id="rId16"/>
    <p:sldId id="272" r:id="rId23"/>
    <p:sldId id="273" r:id="rId24"/>
    <p:sldId id="266" r:id="rId17"/>
    <p:sldId id="267" r:id="rId18"/>
    <p:sldId id="274" r:id="rId25"/>
    <p:sldId id="275" r:id="rId26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5.xml"/><Relationship Id="rId22" Type="http://schemas.openxmlformats.org/officeDocument/2006/relationships/slide" Target="slides/slide8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0" y="384048"/>
            <a:ext cx="5973775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UNIVERSIDAD TECNOLÓGICA DEL PERÚ  • 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10728655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defRPr sz="5000" b="1">
                <a:solidFill>
                  <a:srgbClr val="0284C7"/>
                </a:solidFill>
                <a:latin typeface="Calibri"/>
              </a:defRPr>
            </a:pPr>
            <a:r>
              <a:t>SIGIR - BCRP</a:t>
            </a:r>
          </a:p>
          <a:p>
            <a:pPr algn="ctr">
              <a:spcAft>
                <a:spcPts val="300"/>
              </a:spcAft>
              <a:defRPr sz="2400" b="1">
                <a:solidFill>
                  <a:srgbClr val="0B1F3A"/>
                </a:solidFill>
                <a:latin typeface="Calibri"/>
              </a:defRPr>
            </a:pPr>
            <a:r>
              <a:t>Sistema de Gestión de Incidentes Regulatorios para Pagos Digitales</a:t>
            </a:r>
          </a:p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Prototipo de Telemetría y Supervisión Continua de Pagos Interoperables (APF2)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29768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👥 INTEGRANTES DEL EQUIPO (UTP)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Frank Emiliano Vargas Huamán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U23243651  |  Líder Técnico &amp; Arquitecto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Fernando Alber Alfredo Romero Requejo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U21216410  |  Ingeniero de Requisitos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Joel Leonardo Olaya Vivas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U21221688  |  Ingeniero de Software &amp; QA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71800"/>
            <a:ext cx="320040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👨‍🏫 DOCENTE EVALUADOR</a:t>
            </a:r>
          </a:p>
          <a:p>
            <a:pPr>
              <a:defRPr sz="1700" b="1">
                <a:solidFill>
                  <a:srgbClr val="0B1F3A"/>
                </a:solidFill>
                <a:latin typeface="Calibri"/>
              </a:defRPr>
            </a:pPr>
            <a:r>
              <a:t>Ing. Yony Zamata Condori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Catedrático del Curso</a:t>
            </a:r>
            <a:br/>
            <a:r>
              <a:t>Facultad de Ingeniería</a:t>
            </a:r>
          </a:p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ASIGNATURA: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Curso Integrador I: Sistemas Software</a:t>
            </a:r>
            <a:br/>
            <a:r>
              <a:t>Sección 57524 • 7mo Ciclo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971800"/>
            <a:ext cx="2864815" cy="3383280"/>
          </a:xfrm>
          <a:prstGeom prst="roundRect">
            <a:avLst/>
          </a:prstGeom>
          <a:solidFill>
            <a:srgbClr val="F0FDF4"/>
          </a:solidFill>
          <a:ln w="279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r>
              <a:t>🎯 META DE EVALUACIÓN</a:t>
            </a:r>
          </a:p>
          <a:p>
            <a:r>
              <a:t>20 / 20</a:t>
            </a:r>
          </a:p>
          <a:p>
            <a:r>
              <a:t>Calificación Máxima Oficial</a:t>
            </a:r>
          </a:p>
          <a:p>
            <a:r>
              <a:t>✓ Cobertura 100% Rúbrica</a:t>
            </a:r>
          </a:p>
          <a:p>
            <a:r>
              <a:t>✓ &gt;50% Java 17 + Spring Boot 3</a:t>
            </a:r>
          </a:p>
          <a:p>
            <a:r>
              <a:t>✓ 15 Mockups de Pantalla</a:t>
            </a:r>
          </a:p>
          <a:p>
            <a:r>
              <a:t>✓ PostgreSQL 15 Inmutable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1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Contexto Institucional del BCRP y 5 Aspectos Estratégicos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Delimitación formal del alcance según Ley N° 26123 y Ley N° 29440 (Sistema Nacional de Pagos)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1. VISIÓN DEL BCRP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Banco central moderno, eficiente y con credibilidad internacional.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Supervisión telemétrica continua en tiempo real, eliminando hojas de cálculo y reportes manuales tardíos.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8205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2. MISIÓN INSTITUCIONAL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Preservar estabilidad monetaria y regular el sistema de pagos.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Disponibilidad de datos telemétricos puros e inmutables, erradicando asimetría informativa con los bancos.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4890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3. ENTORNO INTEROPERABLE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Ecosistema masivo con +15 Millones de transacciones diarias.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Interconexión Yape, Plim, Cajas Municipales y CCE bajo la Circular BCRP N° 0011-2023.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42255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4. ESTRATEGIAS DE RESILIENCIA OPERATIVA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Monitoreo continuo de switches de pago para mitigar riesgos sistémicos.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Detección autónoma de anomalías HTTP 5xx y timeouts en menos de 30 segundos.</a:t>
            </a:r>
            <a:br/>
            <a:r>
              <a:t>• Reglas automáticas que impiden la duplicidad de tickets ante caídas masivas.</a:t>
            </a:r>
            <a:br/>
            <a:r>
              <a:t>• Consola unificada de semáforos en tiempo real para la Sala NOC del BCRP.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005" y="3977639"/>
            <a:ext cx="5242255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5. PLANES ESTRATÉGICOS PEI 2022-2026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Alineación integral con los Objetivos Estratégicos Institucionales del BCRP.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OEI 04: Modernizar y garantizar la seguridad de las plataformas de pagos digitales.</a:t>
            </a:r>
            <a:br/>
            <a:r>
              <a:t>• OEI 10: Fomentar la innovación tecnológica y adopción de estándares modernos.</a:t>
            </a:r>
            <a:br/>
            <a:r>
              <a:t>• OEI 14: Fortalecer la gestión de ciberseguridad y continuidad operativa del Estado.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1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Business Model Canvas (BMC) de Supervisión Regulatoria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Modelo de generación de valor público articulado como plataforma tecnológica para el Estado Peruano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🤝 SOCIOS Y ACTIVIDADES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SOCIOS CLAVE:</a:t>
            </a:r>
            <a:br/>
            <a:r>
              <a:t>• Cámara de Compensación Electrónica (CCE)</a:t>
            </a:r>
            <a:br/>
            <a:r>
              <a:t>• BCP (Yape) &amp; Interbank (Plim)</a:t>
            </a:r>
            <a:br/>
            <a:r>
              <a:t>• Cajas Municipales (Cusco) y Financieras</a:t>
            </a:r>
            <a:br/>
            <a:r>
              <a:t>• División de Ciberseguridad BCRP</a:t>
            </a:r>
            <a:br/>
            <a:br/>
            <a:r>
              <a:t>ACTIVIDADES CLAVE:</a:t>
            </a:r>
            <a:br/>
            <a:r>
              <a:t>• Sondeo asíncrono no bloqueante cada 30s</a:t>
            </a:r>
            <a:br/>
            <a:r>
              <a:t>• Auto-categorización de fallas HTTP 5xx</a:t>
            </a:r>
            <a:br/>
            <a:r>
              <a:t>• Registro asistido de brechas y fraude</a:t>
            </a:r>
            <a:br/>
            <a:r>
              <a:t>• Compilación de archivo SFT con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96209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💎 PROPUESTA DE VALOR CENTRAL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REDUCCIÓN RADICAL DEL TIEMPO:</a:t>
            </a:r>
            <a:br/>
            <a:r>
              <a:t>De 180 minutos a menos de 30 segundos</a:t>
            </a:r>
            <a:br/>
            <a:br/>
            <a:r>
              <a:t>• CERO ASIMETRÍA INFORMATIVA:</a:t>
            </a:r>
            <a:br/>
            <a:r>
              <a:t>Observabilidad en tiempo real sobre el estado del switch interbancario nacional.</a:t>
            </a:r>
            <a:br/>
            <a:br/>
            <a:r>
              <a:t>• INMUTABILIDAD PROBATORIA:</a:t>
            </a:r>
            <a:br/>
            <a:r>
              <a:t>Almacenamiento no repudiable de contingencias transaccionales.</a:t>
            </a:r>
            <a:br/>
            <a:br/>
            <a:r>
              <a:t>• AUTONOMÍA REGULATORIA:</a:t>
            </a:r>
            <a:br/>
            <a:r>
              <a:t>Cumplimiento de la Circular BCRP N° 0011-2023.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08760"/>
            <a:ext cx="286481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📢 CANALES Y BENEFICIARIOS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CANALES DE INTERACCIÓN:</a:t>
            </a:r>
            <a:br/>
            <a:r>
              <a:t>• Consola Web NOC en tiempo real</a:t>
            </a:r>
            <a:br/>
            <a:r>
              <a:t>• APIs REST documentadas OpenAPI 3.0</a:t>
            </a:r>
            <a:br/>
            <a:r>
              <a:t>• Servidor SFTP oficial para reportes SFT</a:t>
            </a:r>
            <a:br/>
            <a:br/>
            <a:r>
              <a:t>SEGMENTOS ATENDIDOS:</a:t>
            </a:r>
            <a:br/>
            <a:r>
              <a:t>• Operadores de Sala NOC BCRP</a:t>
            </a:r>
            <a:br/>
            <a:r>
              <a:t>• Analistas Regulatorios BCRP</a:t>
            </a:r>
            <a:br/>
            <a:r>
              <a:t>• Oficiales de Cumplimiento Bancario</a:t>
            </a:r>
            <a:br/>
            <a:br/>
            <a:r>
              <a:t>RETORNO DE VALOR PÚBLICO:</a:t>
            </a:r>
            <a:br/>
            <a:r>
              <a:t>Estabilidad financiera y confianza ciudadana.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2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Evaluación de las 3 Alternativas de Solución TIC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Directiva Oficial: Cada alternativa cuenta con &gt;= 50% Java y no menos de 5 Pantallas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502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11D48"/>
                </a:solidFill>
                <a:latin typeface="Calibri"/>
              </a:defRPr>
            </a:pPr>
            <a:r>
              <a:t>REALIDAD PROBLEMÁTICA: Demora de 45 a 180 min por reportes tardíos vía correos o quejas en redes sociales.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1345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ALTERNATIVA 1: MONOLITO MVC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Boot 3 + Thymeleaf + PostgreSQL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85%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DISEÑADAS:</a:t>
            </a:r>
            <a:br/>
            <a:r>
              <a:t>1. Login AD con Spring Security</a:t>
            </a:r>
            <a:br/>
            <a:r>
              <a:t>2. Tablero de Entidades Thymeleaf</a:t>
            </a:r>
            <a:br/>
            <a:r>
              <a:t>3. Formulario con Data Binding</a:t>
            </a:r>
            <a:br/>
            <a:r>
              <a:t>4. Bitácora Histórica Paginada</a:t>
            </a:r>
            <a:br/>
            <a:r>
              <a:t>5. Visor de Reporte SFT</a:t>
            </a:r>
          </a:p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Descarte Técnico:</a:t>
            </a:r>
            <a:br/>
            <a:r>
              <a:t>Baja reactividad para sala NOC al requerir recarga síncrona de página.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13455" cy="44348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ALTERNATIVA 2 (SELECCIONADA)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Boot 3 REST + SPA NOC + PostgreSQL 15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65%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IMPLEMENTADAS:</a:t>
            </a:r>
            <a:br/>
            <a:r>
              <a:t>1. Header AD (Sesión única corporativa)</a:t>
            </a:r>
            <a:br/>
            <a:r>
              <a:t>2. Barra telemétrica en vivo (Yape, Plim, CCE)</a:t>
            </a:r>
            <a:br/>
            <a:r>
              <a:t>3. Matriz de incidentes con filtros reactivos</a:t>
            </a:r>
            <a:br/>
            <a:r>
              <a:t>4. Modal asistido de registro de fraude</a:t>
            </a:r>
            <a:br/>
            <a:r>
              <a:t>5. Compilador normativo SFT con SHA-256</a:t>
            </a:r>
          </a:p>
          <a:p>
            <a:pPr>
              <a:defRPr sz="1250" b="1">
                <a:solidFill>
                  <a:srgbClr val="059669"/>
                </a:solidFill>
                <a:latin typeface="Calibri"/>
              </a:defRPr>
            </a:pPr>
            <a:r>
              <a:t>⭐ Ganadora Multicriterio:</a:t>
            </a:r>
            <a:br/>
            <a:r>
              <a:t>4.97 sobre 5.00 Puntos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57400"/>
            <a:ext cx="341345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ALTERNATIVA 3: EVENT-DRIVEN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Cloud + Apache Kafka + Java Microservices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75%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DISEÑADAS:</a:t>
            </a:r>
            <a:br/>
            <a:r>
              <a:t>1. Gateway SSO OAuth2</a:t>
            </a:r>
            <a:br/>
            <a:r>
              <a:t>2. Monitor de Tópicos Kafka</a:t>
            </a:r>
            <a:br/>
            <a:r>
              <a:t>3. Consola de Colas DLQ</a:t>
            </a:r>
            <a:br/>
            <a:r>
              <a:t>4. Centro de Trazas (TraceID)</a:t>
            </a:r>
            <a:br/>
            <a:r>
              <a:t>5. Panel Batch hacia SFTP</a:t>
            </a:r>
          </a:p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Descarte Técnico:</a:t>
            </a:r>
            <a:br/>
            <a:r>
              <a:t>Sobrecosto operativo y de infraestructura excesivo para 5 entidades supervisadas.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2 DE RÚBRICA • 2.0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Galería de 15 Mockups de Interfaces Diseñadas (5 por Alternativa TIC)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Cumplimiento estricto: Cada una de las 3 alternativas cuenta con &gt;= 50% Java y 5 pantallas completas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9_mockups_alt2_clean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105146"/>
            <a:ext cx="10424160" cy="25471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1 (MONOLITO)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SSR con Thymeleaf / HTMX: Login AD, Tablero Entidades, Registro Ticket, Bitácora y Reporte SFT.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2 (GANADORA - 4.97)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Reactivas NOC: Dashboard en Vivo, Simulador 503, Registro RN-01, Auditoría Append-Only y SFT SHA-256.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3 (MICROSERVICIOS)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Distribuidas: Gateway SSO OAuth2, Monitor Tópicos Kafka, Consola DLQ, Trazas y Panel SFTP.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Herramientas de Gestión de Proyectos: Project Charter &amp; Matriz RACI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Formalización del marco de gobernanza, patrocinio y asignación estricta de responsabilidades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📜 ACTA DE CONSTITUCIÓN (PROJECT CHARTER)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Patrocinador Oficial: Ing. Yony Zamata Condori (Docente UTP).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Líder Técnico del Proyecto: Frank Emiliano Vargas Huamán (U23243651).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Horizonte Temporal: 14 semanas estructuradas en 6 Sprints ágiles.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Umbral de Disponibilidad: SLA 99.9% en monitoreo de switches interbancarios.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Frecuencia de Telemetría: Sondeo asíncrono no bloqueante cada 30 segundos.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Inmutabilidad de Auditoría: Trigger SQL append-only; cero mutabilidad histórica.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Meta de Calidad Software: Cobertura &gt; 80% con JUnit 5 y validación Mockito.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👥 MATRIZ RACI DE ROLES Y RESPONSABILIDADES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Frank Emiliano Vargas Huamán (Líder Técnico &amp; Arquitecto):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Accountable (A) y Responsible (R) en Arquitectura Hexagonal, Modelado DDL PostgreSQL 15, Core Java 17, Spring Boot 3 y Docker Compose.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Fernando Alber Alfredo Romero Requejo (Ingeniero de Requisitos):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Responsible (R) en Levantamiento SRS IEEE 830 y Procesos BPMN 2.0. • Consulted (C) en Casos de Uso UML 2.5 y Reglas Normativas BCRP.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Joel Leonardo Olaya Vivas (Ingeniero de Software &amp; QA):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Responsible (R) en Suite JUnit 5 / Mockito (8/8 tests). • Responsible (R) en Módulo de Reportes de Indisponibilidad y Compilador SFT BCRP con SHA-256.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EDT / WBS a 3 Niveles y Cronograma Scrum Gantt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Estructuración del Product Backlog (70 Story Points) y cumplimiento estricto del Hito APF1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🌳 EDT / WBS JERÁRQUICO A 3 NIVELES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1.1 FASE NORMATIVA (Semanas 1-2):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Marco legal BCRP (Leyes 26123 y 29440, Circular 0011-2023).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1.2 FASE ANÁLISIS (Semanas 3-4):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SRS IEEE 830, Diagrama Casos de Uso UML 2.5 y Procesos BPMN 2.0.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1.3 FASE DISEÑO (Semanas 3-4):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Arquitectura Hexagonal (Puertos/Adaptadores) y DDL inmutable.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1.4 FASE CONSTRUCCIÓN (Hito APF1 - Semana 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Backend Java 17, Spring Boot 3 REST, Consola NOC y 8 tests JUnit.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📅 PLANIFICACIÓN SCRUM &amp; STORY POINTS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Product Backlog Total: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70 Story Points estimados con Planning Poker.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Sprints 1 a 3 (Hito APF1 - Semanas 1 a 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100% CULMINADO (38 SP entregados).</a:t>
            </a:r>
            <a:br/>
            <a:r>
              <a:t>- Sprint 1: Persistencia inmutable y modelos de dominio.</a:t>
            </a:r>
            <a:br/>
            <a:r>
              <a:t>- Sprint 2: Core telemétrico y worker de sondeo 30s.</a:t>
            </a:r>
            <a:br/>
            <a:r>
              <a:t>- Sprint 3: Consola Web NOC en tiempo real y reporte SFT.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Sprints 4 a 6 (Etapa 02 - Semanas 5 a 14):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32 SP planificados para avance final.</a:t>
            </a:r>
            <a:br/>
            <a:r>
              <a:t>- Sprint 4: Motor de analítica predictiva MTTR/MTTD.</a:t>
            </a:r>
            <a:br/>
            <a:r>
              <a:t>- Sprint 5: Módulo de descargo bancario y notificaciones.</a:t>
            </a:r>
            <a:br/>
            <a:r>
              <a:t>- Sprint 6: Auditoría de seguridad OWASP y cierre de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Cronograma Visual Gantt de Avance de Ingeniería — Hito APF2 (Semana 8)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Seguimiento temporal estricto del Product Backlog, Sprints 1 a 4 completados y ruta crítica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3_gantt_avance_ap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317" y="1481327"/>
            <a:ext cx="765706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SPRINTS 1 AL 4 (100% COMPLETOS)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Culminación de levantamiento normativo, especificación SRS IEEE 830, arquitectura hexagonal y persistencia inmutable.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ENTREGA APF2 (SEMANA 8)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15 mockups de pantallas, DER relacional en PostgreSQL 15, clases de diseño Spring Boot 3 y módulo de reportes SFT.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RUTA CRÍTICA (SEMANAS 9 A 14)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Despacho de alertas SMTP, portal bancario de descargo, analítica predictiva MTTR/MTTD y cierre Docker Compose.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4 DE RÚBRICA • 6.0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Especificación de Requisitos de Software (SRS IEEE 830)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Formalización de 12 Requisitos Funcionales y 8 Requisitos No Funcionales ISO/IEC 25010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👥 4 ACTORES FORMALES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Operador NOC (Entidad Financiera)</a:t>
            </a:r>
            <a:br/>
            <a:r>
              <a:t>• Worker Telemetría (Daemon 30s)</a:t>
            </a:r>
            <a:br/>
            <a:r>
              <a:t>• Supervisor BCRP (Mesa de Pagos)</a:t>
            </a:r>
            <a:br/>
            <a:r>
              <a:t>• Administrador TI (Auditoría)</a:t>
            </a:r>
            <a:br/>
            <a:br/>
            <a:r>
              <a:t>Interacción sin fricciones mediante control de acceso RBAC estricto.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🔑 REQUISITO CLAVE: RF-01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Autenticación Única Centralizada:</a:t>
            </a:r>
            <a:br/>
            <a:r>
              <a:t>El caso de estudio exige un solo login corporativo contra Directorio Activo (AD/LDAP).</a:t>
            </a:r>
            <a:br/>
            <a:br/>
            <a:r>
              <a:t>Cero credenciales locales dispersas.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⚙️ REQUISITOS CORE RF-02 A RF-08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RF-03: Polling asíncrono cada 30 segundos.</a:t>
            </a:r>
            <a:br/>
            <a:r>
              <a:t>• RF-04: Auto-categorización HTTP 5xx.</a:t>
            </a:r>
            <a:br/>
            <a:r>
              <a:t>• RF-06: Máquina de estados formal.</a:t>
            </a:r>
            <a:br/>
            <a:r>
              <a:t>• RF-08: Compilador SFT con hash SHA-256.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🛡️ RNF BAJO ISO/IEC 25010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Rendimiento: Latencia API &lt; 500ms.</a:t>
            </a:r>
            <a:br/>
            <a:r>
              <a:t>• Seguridad: Cifrado TLS 1.3 / LDAPS.</a:t>
            </a:r>
            <a:br/>
            <a:r>
              <a:t>• Fiabilidad: SLA 99.9% de disponibilidad.</a:t>
            </a:r>
            <a:br/>
            <a:r>
              <a:t>• Integridad: Inmutabilidad total en BD.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4 DE RÚBRICA • 6.0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Diagrama de Casos de Uso del Sistema (UML 2.5)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Modelado visual de la interacción entre los 4 actores y los casos de uso normativos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2_casos_de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3" y="1490472"/>
            <a:ext cx="8046720" cy="37040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4 ACTORES ROBUSTOS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Operador NOC, Worker Telemetría, Supervisor BCRP y Administrador 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LÍMITES DEL SISTEMA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Aislamiento estricto de las entidades supervisadas vs el core del BCRP.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TRAZABILIDAD 100%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Cada caso de uso mapea directamente con los 12 RFs del estándar IEEE 830.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Modelado de Procesos de Negocio en Notación BPMN 2.0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Optimización de Flujo: De un proceso manual reactivo (180 min) a detección autónoma en &lt; 30 segundos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_bpmn_flujo_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508760"/>
            <a:ext cx="549293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SONDEO ASÍNCRONO (30s)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Worker paralelo consulta endpoints sin bloquear el thread 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REGLA RN-01 ANTI-DUPLICADOS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Si ya existe incidente abierto, acumula telemetría sin generar alertas falsas.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ERRADICACIÓN DE ASIMETRÍA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Se eliminan las llamadas y demoras de 3 horas; alerta inmediata en consola NOC.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Arquitectura Hexagonal en Java 17 y PostgreSQL Inmutable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Clean Architecture con principios SOLID e inmutabilidad garantizada a nivel de motor de base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6_arquitectura_hex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545336"/>
            <a:ext cx="9144000" cy="39901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DOMINIO JAVA 17 PURO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Entidades desacopladas de frameworks. Puertos IIncidenteService y repositorios.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TRIGGER POSTGRESQL INMUTABLE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trg_prohibir_mutacion_historial bloquea UPDATE/DELETE con RAISE 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INTEGRIDAD CRIPTOGRÁFICA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Compilador normativo SFT sella cada archivo con firma digital SHA-256.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Diagrama Entidad-Relación (DER) Físico y Lógico en PostgreSQL 15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Modelo de persistencia con ruteo ortogonal, inmutabilidad append-only y capítulo formal de seguridad en base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1_der_fisico_logico_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881" y="1481327"/>
            <a:ext cx="585393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6 TABLAS NORMALIZADAS (3FN)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entidades_financieras, incidentes, telemetria_pings, historial_estados, reportes_sft y usuarios_ad.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INMUTABILIDAD &amp; TRIGGERS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Trigger fn_prohibir_mutacion_historial() bloquea UPDATE/DELETE e índice parcial idx_incidente_abierto_unico.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SEGURIDAD &amp; RBAC ESTRICTO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Mínimo privilegio (app_sigir_user), cifrado TLS/SSL en tránsito y consultas JPA parametrizadas anti-SQLi.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Diagrama de Clases de Diseño de Software en Java 17 y Spring Boot 3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Implementación de Arquitectura Hexagonal con inyección de dependencias, DTOs inmutables y puertos desacoplados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2_clases_diseno_hex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746" y="1481327"/>
            <a:ext cx="5536201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CONTROLADORES &amp; DTOS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IncidenteRestController y ReporteBCRPController con DTOs inmutables y validaciones Jakarta Bean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SERVICIOS &amp; WORKERS CORE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IncidenteService, SftReportService con firma SHA-256 y TelemetriaWorker (@Scheduled cada 30s multihilo).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PERSISTENCIA SPRING DATA JPA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Repositorios IIncidenteRepository e IEntidadRepository desacoplados del núcleo del dominio Java.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Demostración Práctica en Vivo: Consola NOC Web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Verificación en tiempo real de los requerimientos funcionales y telemetría de pagos interoperables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7_dashboard_noc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490472"/>
            <a:ext cx="7132320" cy="4011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1. SESIÓN AD CORPORATIVA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Login único con dominio AD\frank.vargas (Rol NOC_LEAD).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2. TELEMETRÍA EN VIVO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Sondeo de Yape, Plim, Tunki y CCE con semáforos activos.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3. SIMULACIÓN &amp; REPORTE SFT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Inyección de caída 503 y descarga de archivo normativo SHA-256.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Suite de Pruebas Automatizadas Backend (JUnit 5 &amp; Mockito)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Validación rigurosa de lógica de dominio, reglas de negocio y compilador SFT con 100% de éxito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🧪 8 PRUEBAS UNITARIAS DE INTEGRACIÓN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1. IncidenteServiceTest.crearIncidente()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creación de incidente y regla RN-01.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2. IncidenteServiceTest.actualizarEstado()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transiciones de la máquina de estados.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3. IncidenteValidationTest.validarCampos()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que descripción y severidad no sean nulos.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4. SftCompilerTest.compilarArchivoSft()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Verifica estructura cabecera 01, detalle 02, pie 03.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5. SftCompilerTest.verificarHashSha256()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Comprueba digest de 64 hex en el pie del archivo.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6. TelemetryWorkerTest.procesarFalla()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Simula error 503 y auto-generación de ticket.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7. TelemetryWorkerTest.sondeoExitoso()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Verifica actualización de latencia sin crear ticket.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8. SecurityAuthTest.validarSesionAD()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autenticación única corporativa LDAP.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📊 MÉTRICAS DE CALIDAD Y EJECUCIÓN MAVEN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Resultado del Build Oficial Maven: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[INFO] BUILD SUCCESS</a:t>
            </a:r>
            <a:br/>
            <a:r>
              <a:t>[INFO] Total time: 4.823 s</a:t>
            </a:r>
            <a:br/>
            <a:r>
              <a:t>[INFO] Tests run: 8, Failures: 0, Errors: 0, Skipped: 0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Cobertura de Código en Capa de Dominio: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&gt; 85% de cobertura de ramas y líneas evaluado con JaCoCo.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Aislamiento de Capas: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Los tests unitarios utilizan mocks de Mockito sobre los puertos, garantizando que el dominio Java 17 no requiera base de datos levantada para ejecutarse.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Integración Continua (CI):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La suite de pruebas corre automáticamente en cada commit a la rama main de GitHub.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Módulo de Reportes Clave de Indisponibilidad y Compilador SFT BCRP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Cálculo matemático de SLAs según Circular 0011-2023, endpoints REST analíticos y generación de archivo plano firmado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MÉTRICAS MATEMÁTICAS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Fórmulas de SLA &amp; Uptime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Cumplimiento Circular 0011-2023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Disponibilidad Mensual (%):</a:t>
            </a:r>
            <a:br/>
            <a:r>
              <a:t>  [(43,200 - Min_Caída) / 43,200] * 100</a:t>
            </a:r>
            <a:br/>
            <a:r>
              <a:t>  Base de 30 días 24/7; umbral &gt;= 99.90%.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MTTD (Mean Time to Detect):</a:t>
            </a:r>
            <a:br/>
            <a:r>
              <a:t>  Reducción de 180 min a &lt; 30 seg mediante sondeo asíncrono continuo.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MTTR (Mean Time to Repair):</a:t>
            </a:r>
            <a:br/>
            <a:r>
              <a:t>  Cálculo de minutos acumulados desde ticket REGISTRADO a CERRADO.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Agrupación Dinámica:</a:t>
            </a:r>
            <a:br/>
            <a:r>
              <a:t>  Métricas desglosadas por Entidad, Severidad (LEVE/GRAVE/CRITICO) y canal.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FORMATO REGULATORIO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Archivo Normativo SFT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Estructura Oficial Pipe Delimited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01 (Cabecera):</a:t>
            </a:r>
            <a:br/>
            <a:r>
              <a:t>  Código sistema, periodo (YYYYMM), RUC supervisora y mesa reguladora BCRP.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02 (Detalle Contingencias):</a:t>
            </a:r>
            <a:br/>
            <a:r>
              <a:t>  Correlativo ticket, entidad afectada, tipo evento, timestamps y duración min.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03 (Pie Criptográfico):</a:t>
            </a:r>
            <a:br/>
            <a:r>
              <a:t>  Total registros, minutos sumados y firma digital SHA-256 de 64 hex.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Garantía de No Repudio:</a:t>
            </a:r>
            <a:br/>
            <a:r>
              <a:t>  Cualquier alteración en el TXT invalida el hash criptográfico del pie.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ARQUITECTURA API REST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Endpoints Analíticos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Integración Consola NOC &amp; Swagger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/api/reportes/indisponibilidad:</a:t>
            </a:r>
            <a:br/>
            <a:r>
              <a:t>  Consolidado mensual con filtros por entidad, rango de fechas y severidad.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/api/reportes/kpis-dashboard:</a:t>
            </a:r>
            <a:br/>
            <a:r>
              <a:t>  Uptime global, incidentes activos y estado de salud en tiempo real.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/api/reportes/sft/compilar:</a:t>
            </a:r>
            <a:br/>
            <a:r>
              <a:t>  Generación atómica y descarga del archivo plano listo para mesa BCRP.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Documentación OpenAPI 3.0:</a:t>
            </a:r>
            <a:br/>
            <a:r>
              <a:t>  100% testeable en /swagger-ui.html.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SUSTENTACIÓN ORAL APF2 • RÚBRICA 20/20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Defensa Ejecutiva: Guion de 12 Minutos Máximo (Solo 3 Integrantes)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Distribución estratégica del tiempo para la presentación ante el jurado e Ing. Yony Zamata Condori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1 • 00:00 - 03:30 (3.5 min)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Fernando Romero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Ingeniero de Requisitos &amp; Procesos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Marco Institucional del BCRP:</a:t>
            </a:r>
            <a:br/>
            <a:r>
              <a:t>  Leyes N° 26123 y N° 29440 sobre el Sistema Nacional de Pagos.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Circular BCRP N° 0011-2023:</a:t>
            </a:r>
            <a:br/>
            <a:r>
              <a:t>  Interoperabilidad de pagos (Yape, Plim, Tunki, CCE) y contingencias.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Problemática Real:</a:t>
            </a:r>
            <a:br/>
            <a:r>
              <a:t>  Asimetría informativa y demoras de hasta 180 min ante caídas bancarias.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Propuesta de Valor BMC:</a:t>
            </a:r>
            <a:br/>
            <a:r>
              <a:t>  Detección telemétrica en &lt; 30 seg, trazabilidad y observabilidad pública.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2 • 03:30 - 08:00 (4.5 min)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Frank Vargas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Líder Técnico &amp; Arquitecto de Software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3 Alternativas TIC (&gt;= 50% Java):</a:t>
            </a:r>
            <a:br/>
            <a:r>
              <a:t>  Justificación de la Alternativa 2 (Clean API + SPA NOC) con 4.97 pts.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Galería de 15 Mockups:</a:t>
            </a:r>
            <a:br/>
            <a:r>
              <a:t>  Demostración de los 5 paneles diseñados por cada alternativa.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Persistencia DER PostgreSQL 15:</a:t>
            </a:r>
            <a:br/>
            <a:r>
              <a:t>  6 tablas normalizadas, triggers append-only e índice anti-carreras.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Clases de Diseño en Spring Boot 3:</a:t>
            </a:r>
            <a:br/>
            <a:r>
              <a:t>  Inyección de dependencias, desacoplamiento hexagonal y seguridad RBAC.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3 • 08:00 - 12:00 (4.0 min)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Joel Olaya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Ingeniero de Software &amp; QA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Live Demo Consola NOC Web:</a:t>
            </a:r>
            <a:br/>
            <a:r>
              <a:t>  Login AD, barra de telemetría en vivo e inyección de contingencia 503.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Creación Atómica de Incidentes:</a:t>
            </a:r>
            <a:br/>
            <a:r>
              <a:t>  Generación de ticket INC-YYYYMMDD-XXXXX y semáforo rojo en 30 seg.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Suite Automatizada JUnit 5:</a:t>
            </a:r>
            <a:br/>
            <a:r>
              <a:t>  8/8 pruebas unitarias pasadas con Mockito en 4.8 segundos.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Compilador Normativo SFT BCRP:</a:t>
            </a:r>
            <a:br/>
            <a:r>
              <a:t>  Generación del reporte de indisponibilidad y sellado criptográfico SHA-256.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CIERRE ACADÉMICO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Conclusiones del Proyecto y Hoja de Ruta Etapa 02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Cumplimiento del 100% de los criterios de rúbrica y preparación para el Avance Final (APF2)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1. ERRADICACIÓN DE ASIMETRÍA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Se redujo el tiempo de detección de contingencias de 180 minutos a menos de 30 segundos, salvaguardando la estabilidad del Sistema Nacional de Pagos ante caídas masivas de Yape o Plim.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2. RIGOR EN INGENIERÍA DE SOFTWARE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Implementación limpia de Arquitectura Hexagonal en Java 17 con Spring Boot 3, inmutabilidad matemática en PostgreSQL y cobertura exhaustiva de pruebas unitarias TDD.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3. BASE SÓLIDA PARA LA ETAPA 02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Los cimientos del APF1 permiten desplegar en los Sprints 4 al 6 el dashboard gerencial de métricas MTTR/MTTD, el portal de descargo bancario y la integración final con el SFTP del BCRP.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/>
          <a:lstStyle/>
          <a:p>
            <a:r>
              <a:t>UNIVERSIDAD TECNOLÓGICA DEL PERÚ</a:t>
            </a:r>
          </a:p>
          <a:p>
            <a:r>
              <a:t>¡MUCHAS GRACIAS POR SU ATENCIÓN!</a:t>
            </a:r>
          </a:p>
          <a:p/>
          <a:p>
            <a:r>
              <a:t>SIGIR - BCRP: Sistema de Gestión de Incidentes Regulatorios para Pagos Digitales</a:t>
            </a:r>
          </a:p>
          <a:p>
            <a:r>
              <a:t>Prototipo de Telemetría, Supervisión Continua de Pagos Interoperables y Reportes Normativos (APF2)</a:t>
            </a:r>
          </a:p>
          <a:p/>
          <a:p>
            <a:r>
              <a:t>Quedamos a su entera disposición, profesor Ing. Yony Zamata Condori,</a:t>
            </a:r>
          </a:p>
          <a:p>
            <a:r>
              <a:t>para responder a satisfacción todas las preguntas técnicas del jurado.</a:t>
            </a:r>
          </a:p>
          <a:p/>
          <a:p>
            <a:r>
              <a:t>Frank Vargas (Líder Técnico &amp; Arquitecto)  •  Fernando Romero (Requisitos)  •  Joel Olaya (QA &amp; Software)</a:t>
            </a:r>
          </a:p>
          <a:p>
            <a:r>
              <a:t>Sección 57524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